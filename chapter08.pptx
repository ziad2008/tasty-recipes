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55"/>
  </p:notesMasterIdLst>
  <p:handoutMasterIdLst>
    <p:handoutMasterId r:id="rId56"/>
  </p:handoutMasterIdLst>
  <p:sldIdLst>
    <p:sldId id="474" r:id="rId2"/>
    <p:sldId id="475" r:id="rId3"/>
    <p:sldId id="476" r:id="rId4"/>
    <p:sldId id="477" r:id="rId5"/>
    <p:sldId id="478" r:id="rId6"/>
    <p:sldId id="479" r:id="rId7"/>
    <p:sldId id="480" r:id="rId8"/>
    <p:sldId id="481" r:id="rId9"/>
    <p:sldId id="482" r:id="rId10"/>
    <p:sldId id="483" r:id="rId11"/>
    <p:sldId id="485" r:id="rId12"/>
    <p:sldId id="486" r:id="rId13"/>
    <p:sldId id="487" r:id="rId14"/>
    <p:sldId id="488" r:id="rId15"/>
    <p:sldId id="489" r:id="rId16"/>
    <p:sldId id="490" r:id="rId17"/>
    <p:sldId id="491" r:id="rId18"/>
    <p:sldId id="492" r:id="rId19"/>
    <p:sldId id="493" r:id="rId20"/>
    <p:sldId id="494" r:id="rId21"/>
    <p:sldId id="495" r:id="rId22"/>
    <p:sldId id="496" r:id="rId23"/>
    <p:sldId id="497" r:id="rId24"/>
    <p:sldId id="498" r:id="rId25"/>
    <p:sldId id="499" r:id="rId26"/>
    <p:sldId id="500" r:id="rId27"/>
    <p:sldId id="501" r:id="rId28"/>
    <p:sldId id="502" r:id="rId29"/>
    <p:sldId id="503" r:id="rId30"/>
    <p:sldId id="504" r:id="rId31"/>
    <p:sldId id="505" r:id="rId32"/>
    <p:sldId id="506" r:id="rId33"/>
    <p:sldId id="507" r:id="rId34"/>
    <p:sldId id="508" r:id="rId35"/>
    <p:sldId id="509" r:id="rId36"/>
    <p:sldId id="510" r:id="rId37"/>
    <p:sldId id="511" r:id="rId38"/>
    <p:sldId id="512" r:id="rId39"/>
    <p:sldId id="513" r:id="rId40"/>
    <p:sldId id="514" r:id="rId41"/>
    <p:sldId id="515" r:id="rId42"/>
    <p:sldId id="516" r:id="rId43"/>
    <p:sldId id="517" r:id="rId44"/>
    <p:sldId id="518" r:id="rId45"/>
    <p:sldId id="519" r:id="rId46"/>
    <p:sldId id="520" r:id="rId47"/>
    <p:sldId id="521" r:id="rId48"/>
    <p:sldId id="522" r:id="rId49"/>
    <p:sldId id="523" r:id="rId50"/>
    <p:sldId id="524" r:id="rId51"/>
    <p:sldId id="525" r:id="rId52"/>
    <p:sldId id="526" r:id="rId53"/>
    <p:sldId id="570" r:id="rId54"/>
  </p:sldIdLst>
  <p:sldSz cx="9144000" cy="6858000" type="letter"/>
  <p:notesSz cx="6858000" cy="9144000"/>
  <p:defaultTextStyle>
    <a:defPPr>
      <a:defRPr lang="en-CA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7228"/>
    <a:srgbClr val="6E792B"/>
    <a:srgbClr val="76822E"/>
    <a:srgbClr val="4F571F"/>
    <a:srgbClr val="6F6A07"/>
    <a:srgbClr val="827C08"/>
    <a:srgbClr val="80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104" d="100"/>
          <a:sy n="104" d="100"/>
        </p:scale>
        <p:origin x="1824" y="102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706"/>
    </p:cViewPr>
  </p:sorterViewPr>
  <p:notesViewPr>
    <p:cSldViewPr snapToObjects="1">
      <p:cViewPr>
        <p:scale>
          <a:sx n="100" d="100"/>
          <a:sy n="100" d="100"/>
        </p:scale>
        <p:origin x="-780" y="21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endParaRPr lang="en-CA"/>
          </a:p>
        </p:txBody>
      </p:sp>
      <p:sp>
        <p:nvSpPr>
          <p:cNvPr id="1049188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endParaRPr lang="en-CA"/>
          </a:p>
        </p:txBody>
      </p:sp>
      <p:sp>
        <p:nvSpPr>
          <p:cNvPr id="1049189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endParaRPr lang="en-CA"/>
          </a:p>
        </p:txBody>
      </p:sp>
      <p:sp>
        <p:nvSpPr>
          <p:cNvPr id="1049190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fld id="{4B92960A-17C0-46AE-B12D-40591A786851}" type="slidenum">
              <a:rPr lang="en-CA" altLang="en-US"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endParaRPr lang="en-CA"/>
          </a:p>
        </p:txBody>
      </p:sp>
      <p:sp>
        <p:nvSpPr>
          <p:cNvPr id="104918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endParaRPr lang="en-CA"/>
          </a:p>
        </p:txBody>
      </p:sp>
      <p:sp>
        <p:nvSpPr>
          <p:cNvPr id="104918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918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104918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endParaRPr lang="en-CA"/>
          </a:p>
        </p:txBody>
      </p:sp>
      <p:sp>
        <p:nvSpPr>
          <p:cNvPr id="10491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fld id="{FC570536-0617-4655-AF11-9F007F3F2381}" type="slidenum">
              <a:rPr lang="en-CA" altLang="en-US"/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4C95541-79A1-4EC9-9099-264772E713C6}" type="slidenum">
              <a:rPr lang="en-CA" altLang="en-US" sz="1200">
                <a:latin typeface="Tahoma" panose="020B0604030504040204" pitchFamily="34" charset="0"/>
              </a:rPr>
              <a:t>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4859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FC21647-1F82-4D91-B92F-5FE0A844AFEA}" type="slidenum">
              <a:rPr lang="en-CA" altLang="en-US" sz="1200">
                <a:latin typeface="Tahoma" panose="020B0604030504040204" pitchFamily="34" charset="0"/>
              </a:rPr>
              <a:t>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908855A-3FDF-465A-8CB8-FEDFBB64B56F}" type="slidenum">
              <a:rPr lang="en-CA" altLang="en-US" sz="1200">
                <a:latin typeface="Tahoma" panose="020B0604030504040204" pitchFamily="34" charset="0"/>
              </a:rPr>
              <a:t>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2162274-7663-400F-A060-156D4DA6B11F}" type="slidenum">
              <a:rPr lang="en-CA" altLang="en-US" sz="1200">
                <a:latin typeface="Tahoma" panose="020B0604030504040204" pitchFamily="34" charset="0"/>
              </a:rPr>
              <a:t>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6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0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F6E6975-66A6-4808-8C6C-127C584CA6DE}" type="slidenum">
              <a:rPr lang="en-CA" altLang="en-US" sz="1200">
                <a:latin typeface="Tahoma" panose="020B0604030504040204" pitchFamily="34" charset="0"/>
              </a:rPr>
              <a:t>5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6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EE38776-7568-42BA-98E5-78DE087682E1}" type="slidenum">
              <a:rPr lang="en-CA" altLang="en-US" sz="1200">
                <a:latin typeface="Tahoma" panose="020B0604030504040204" pitchFamily="34" charset="0"/>
              </a:rPr>
              <a:t>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6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</p:spPr>
      </p:sp>
      <p:sp>
        <p:nvSpPr>
          <p:cNvPr id="104862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70A3A1B-2E3D-4084-B538-219BB200FACC}" type="slidenum">
              <a:rPr lang="en-CA" altLang="en-US" sz="1200">
                <a:latin typeface="Tahoma" panose="020B0604030504040204" pitchFamily="34" charset="0"/>
              </a:rPr>
              <a:t>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9AEA93B-2482-4DEB-8355-6598F8B90AF4}" type="slidenum">
              <a:rPr lang="en-CA" altLang="en-US" sz="1200">
                <a:latin typeface="Tahoma" panose="020B0604030504040204" pitchFamily="34" charset="0"/>
              </a:rPr>
              <a:t>8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6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3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106DF7-F286-41AC-996F-DE256CB97B35}" type="slidenum">
              <a:rPr lang="en-CA" altLang="en-US" sz="1200">
                <a:latin typeface="Tahoma" panose="020B0604030504040204" pitchFamily="34" charset="0"/>
              </a:rPr>
              <a:t>9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6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10ECED0-6EC2-43A5-AB81-BB9B6E91F3AE}" type="slidenum">
              <a:rPr lang="en-CA" altLang="en-US" sz="1200">
                <a:latin typeface="Tahoma" panose="020B0604030504040204" pitchFamily="34" charset="0"/>
              </a:rPr>
              <a:t>10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6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4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8248B8F-998E-4A86-B3C7-3D2952CA2D7A}" type="slidenum">
              <a:rPr lang="en-CA" altLang="en-US" sz="1200">
                <a:latin typeface="Tahoma" panose="020B0604030504040204" pitchFamily="34" charset="0"/>
              </a:rPr>
              <a:t>11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0E3557-2FD0-4E7E-9BA5-E7AF9E5466C1}" type="slidenum">
              <a:rPr lang="en-CA" altLang="en-US" sz="1200">
                <a:latin typeface="Tahoma" panose="020B0604030504040204" pitchFamily="34" charset="0"/>
              </a:rPr>
              <a:t>12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6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5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3AEEC2A-86FC-405A-8AA2-5749608B0544}" type="slidenum">
              <a:rPr lang="en-CA" altLang="en-US" sz="1200">
                <a:latin typeface="Tahoma" panose="020B0604030504040204" pitchFamily="34" charset="0"/>
              </a:rPr>
              <a:t>13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6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BD5DCA3-BEEC-425E-9757-EE62DF3CE4A4}" type="slidenum">
              <a:rPr lang="en-CA" altLang="en-US" sz="1200">
                <a:latin typeface="Tahoma" panose="020B0604030504040204" pitchFamily="34" charset="0"/>
              </a:rPr>
              <a:t>14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6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7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B5CF380-B47A-49C3-B77C-1219980A75BB}" type="slidenum">
              <a:rPr lang="en-CA" altLang="en-US" sz="1200">
                <a:latin typeface="Tahoma" panose="020B0604030504040204" pitchFamily="34" charset="0"/>
              </a:rPr>
              <a:t>15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BB421F2-C88C-4337-B72C-BB07D47194DA}" type="slidenum">
              <a:rPr lang="en-CA" altLang="en-US" sz="1200">
                <a:latin typeface="Tahoma" panose="020B0604030504040204" pitchFamily="34" charset="0"/>
              </a:rPr>
              <a:t>16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6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8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3AA0168-1D11-479D-8CA2-86E36E190EE4}" type="slidenum">
              <a:rPr lang="en-CA" altLang="en-US" sz="1200">
                <a:latin typeface="Tahoma" panose="020B0604030504040204" pitchFamily="34" charset="0"/>
              </a:rPr>
              <a:t>17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6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09A1921-34DC-41AD-A5E7-5B389AA5A304}" type="slidenum">
              <a:rPr lang="en-CA" altLang="en-US" sz="1200">
                <a:latin typeface="Tahoma" panose="020B0604030504040204" pitchFamily="34" charset="0"/>
              </a:rPr>
              <a:t>18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6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AB55D39-FECF-4446-BD50-705A5F6AE606}" type="slidenum">
              <a:rPr lang="en-CA" altLang="en-US" sz="1200">
                <a:latin typeface="Tahoma" panose="020B0604030504040204" pitchFamily="34" charset="0"/>
              </a:rPr>
              <a:t>19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7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70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D0DC8D9-EF22-4AA6-9434-7D57C43F665E}" type="slidenum">
              <a:rPr lang="en-CA" altLang="en-US" sz="1200">
                <a:latin typeface="Tahoma" panose="020B0604030504040204" pitchFamily="34" charset="0"/>
              </a:rPr>
              <a:t>20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42A457A-1C8F-4915-AA01-6D1E2B486F79}" type="slidenum">
              <a:rPr lang="en-CA" altLang="en-US" sz="1200">
                <a:latin typeface="Tahoma" panose="020B0604030504040204" pitchFamily="34" charset="0"/>
              </a:rPr>
              <a:t>21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7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71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1C2DC7E-3A6E-4CFA-B5A1-0E392BEAB5A1}" type="slidenum">
              <a:rPr lang="en-CA" altLang="en-US" sz="1200">
                <a:latin typeface="Tahoma" panose="020B0604030504040204" pitchFamily="34" charset="0"/>
              </a:rPr>
              <a:t>22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7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7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B2EC23C-B23A-4F4C-84B5-1661548EAA96}" type="slidenum">
              <a:rPr lang="en-CA" altLang="en-US" sz="1200">
                <a:latin typeface="Tahoma" panose="020B0604030504040204" pitchFamily="34" charset="0"/>
              </a:rPr>
              <a:t>23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7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72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E9CFC60-3935-429F-A60F-A51AAC6E86A7}" type="slidenum">
              <a:rPr lang="en-CA" altLang="en-US" sz="1200">
                <a:latin typeface="Tahoma" panose="020B0604030504040204" pitchFamily="34" charset="0"/>
              </a:rPr>
              <a:t>24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7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5DB7103-64D6-469C-93A4-8A68A589CE02}" type="slidenum">
              <a:rPr lang="en-CA" altLang="en-US" sz="1200">
                <a:latin typeface="Tahoma" panose="020B0604030504040204" pitchFamily="34" charset="0"/>
              </a:rPr>
              <a:t>26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7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7BF4BCE-20E4-4055-BBBB-E7981B5294EC}" type="slidenum">
              <a:rPr lang="en-CA" altLang="en-US" sz="1200">
                <a:latin typeface="Tahoma" panose="020B0604030504040204" pitchFamily="34" charset="0"/>
              </a:rPr>
              <a:t>27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7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74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EF8B96D-992C-40C1-AF1B-624583BD9549}" type="slidenum">
              <a:rPr lang="en-CA" altLang="en-US" sz="1200">
                <a:latin typeface="Tahoma" panose="020B0604030504040204" pitchFamily="34" charset="0"/>
              </a:rPr>
              <a:t>28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7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7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5B6B89A-5306-41F1-A3F8-2C840FE2CD76}" type="slidenum">
              <a:rPr lang="en-CA" altLang="en-US" sz="1200">
                <a:latin typeface="Tahoma" panose="020B0604030504040204" pitchFamily="34" charset="0"/>
              </a:rPr>
              <a:t>29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75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4E72F7-18ED-4334-9F74-6B31E0767F1B}" type="slidenum">
              <a:rPr lang="en-CA" altLang="en-US" sz="1200">
                <a:latin typeface="Tahoma" panose="020B0604030504040204" pitchFamily="34" charset="0"/>
              </a:rPr>
              <a:t>30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7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3E14E99-F6F5-4FDF-A1F9-134042FCD907}" type="slidenum">
              <a:rPr lang="en-CA" altLang="en-US" sz="1200">
                <a:latin typeface="Tahoma" panose="020B0604030504040204" pitchFamily="34" charset="0"/>
              </a:rPr>
              <a:t>31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7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76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8EBCEBE-9B0F-4C5D-8D85-BABF61B17816}" type="slidenum">
              <a:rPr lang="en-CA" altLang="en-US" sz="1200">
                <a:latin typeface="Tahoma" panose="020B0604030504040204" pitchFamily="34" charset="0"/>
              </a:rPr>
              <a:t>32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7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7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2E4531C-2B14-4529-9664-63C6235607A2}" type="slidenum">
              <a:rPr lang="en-CA" altLang="en-US" sz="1200">
                <a:latin typeface="Tahoma" panose="020B0604030504040204" pitchFamily="34" charset="0"/>
              </a:rPr>
              <a:t>33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78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A2A4894-1137-41C2-B518-1DC5F07626C7}" type="slidenum">
              <a:rPr lang="en-CA" altLang="en-US" sz="1200">
                <a:latin typeface="Tahoma" panose="020B0604030504040204" pitchFamily="34" charset="0"/>
              </a:rPr>
              <a:t>37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8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6E4557B-A576-4350-A9E4-D740373B8AFE}" type="slidenum">
              <a:rPr lang="en-CA" altLang="en-US" sz="1200">
                <a:latin typeface="Tahoma" panose="020B0604030504040204" pitchFamily="34" charset="0"/>
              </a:rPr>
              <a:t>38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8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81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639EA9E-BE22-4F84-A46C-29217A1DFE30}" type="slidenum">
              <a:rPr lang="en-CA" altLang="en-US" sz="1200">
                <a:latin typeface="Tahoma" panose="020B0604030504040204" pitchFamily="34" charset="0"/>
              </a:rPr>
              <a:t>40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8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8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034F1F-279A-4B8B-924C-03EB77577B7C}" type="slidenum">
              <a:rPr lang="en-CA" altLang="en-US" sz="1200">
                <a:latin typeface="Tahoma" panose="020B0604030504040204" pitchFamily="34" charset="0"/>
              </a:rPr>
              <a:t>41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8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8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3CD455-DD6A-4066-866A-705E89846144}" type="slidenum">
              <a:rPr lang="en-CA" altLang="en-US" sz="1200">
                <a:latin typeface="Tahoma" panose="020B0604030504040204" pitchFamily="34" charset="0"/>
              </a:rPr>
              <a:t>42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84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056F19A-3F13-4A10-837F-0F2339670E34}" type="slidenum">
              <a:rPr lang="en-CA" altLang="en-US" sz="1200">
                <a:latin typeface="Tahoma" panose="020B0604030504040204" pitchFamily="34" charset="0"/>
              </a:rPr>
              <a:t>43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8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FB8A3D-3A20-4DA3-A31E-48C650464F44}" type="slidenum">
              <a:rPr lang="en-CA" altLang="en-US" sz="1200">
                <a:latin typeface="Tahoma" panose="020B0604030504040204" pitchFamily="34" charset="0"/>
              </a:rPr>
              <a:t>44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8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85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88EE24B-40F5-4EB1-9C5E-EA4FFE86E434}" type="slidenum">
              <a:rPr lang="en-CA" altLang="en-US" sz="1200">
                <a:latin typeface="Tahoma" panose="020B0604030504040204" pitchFamily="34" charset="0"/>
              </a:rPr>
              <a:t>45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8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8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FB61919-16CC-45DC-9413-D3500A02A82E}" type="slidenum">
              <a:rPr lang="en-CA" altLang="en-US" sz="1200">
                <a:latin typeface="Tahoma" panose="020B0604030504040204" pitchFamily="34" charset="0"/>
              </a:rPr>
              <a:t>46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8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87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A9E115-EAF5-4AF4-A425-60BAC9B83159}" type="slidenum">
              <a:rPr lang="en-CA" altLang="en-US" sz="1200">
                <a:latin typeface="Tahoma" panose="020B0604030504040204" pitchFamily="34" charset="0"/>
              </a:rPr>
              <a:t>47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8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8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EDC3A04-B53C-453B-94F3-0D9C334B7445}" type="slidenum">
              <a:rPr lang="en-CA" altLang="en-US" sz="1200">
                <a:latin typeface="Tahoma" panose="020B0604030504040204" pitchFamily="34" charset="0"/>
              </a:rPr>
              <a:t>48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8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5634CD-2CE3-46CD-8DF4-F4584BB19524}" type="slidenum">
              <a:rPr lang="en-CA" altLang="en-US" sz="1200">
                <a:latin typeface="Tahoma" panose="020B0604030504040204" pitchFamily="34" charset="0"/>
              </a:rPr>
              <a:t>51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88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8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8A3F5D9-AA9C-4F88-8C64-427EA24BEEE1}" type="slidenum">
              <a:rPr lang="en-CA" altLang="en-US" sz="1200">
                <a:latin typeface="Tahoma" panose="020B0604030504040204" pitchFamily="34" charset="0"/>
              </a:rPr>
              <a:t>53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91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914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1" name="Rectangle 44"/>
          <p:cNvSpPr>
            <a:spLocks noChangeArrowheads="1"/>
          </p:cNvSpPr>
          <p:nvPr/>
        </p:nvSpPr>
        <p:spPr bwMode="auto">
          <a:xfrm>
            <a:off x="8305800" y="0"/>
            <a:ext cx="609600" cy="6858000"/>
          </a:xfrm>
          <a:prstGeom prst="rect">
            <a:avLst/>
          </a:prstGeom>
          <a:gradFill rotWithShape="1">
            <a:gsLst>
              <a:gs pos="0">
                <a:srgbClr val="677228">
                  <a:alpha val="43999"/>
                </a:srgbClr>
              </a:gs>
              <a:gs pos="100000">
                <a:srgbClr val="5A6423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ea typeface="+mn-ea"/>
            </a:endParaRPr>
          </a:p>
        </p:txBody>
      </p:sp>
      <p:sp>
        <p:nvSpPr>
          <p:cNvPr id="1049162" name="Rectangle 47"/>
          <p:cNvSpPr>
            <a:spLocks noChangeArrowheads="1"/>
          </p:cNvSpPr>
          <p:nvPr userDrawn="1"/>
        </p:nvSpPr>
        <p:spPr bwMode="auto">
          <a:xfrm rot="162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ea typeface="+mn-ea"/>
            </a:endParaRPr>
          </a:p>
        </p:txBody>
      </p:sp>
      <p:sp>
        <p:nvSpPr>
          <p:cNvPr id="1049163" name="Rectangle 48"/>
          <p:cNvSpPr>
            <a:spLocks noChangeArrowheads="1"/>
          </p:cNvSpPr>
          <p:nvPr userDrawn="1"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ea typeface="+mn-ea"/>
            </a:endParaRPr>
          </a:p>
        </p:txBody>
      </p:sp>
      <p:pic>
        <p:nvPicPr>
          <p:cNvPr id="2097180" name="Picture 35" descr="awtri_4c UPDATE_colo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5949950"/>
            <a:ext cx="684213" cy="8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1" name="Picture 46" descr="elmasri_thumb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9164" name="Rectangle 30" descr="Pink tissue paper"/>
          <p:cNvSpPr>
            <a:spLocks noGrp="1" noChangeArrowheads="1"/>
          </p:cNvSpPr>
          <p:nvPr>
            <p:ph type="ctrTitle" sz="quarter"/>
          </p:nvPr>
        </p:nvSpPr>
        <p:spPr>
          <a:xfrm>
            <a:off x="228600" y="152400"/>
            <a:ext cx="7086600" cy="2286000"/>
          </a:xfrm>
        </p:spPr>
        <p:txBody>
          <a:bodyPr wrap="none" anchor="ctr"/>
          <a:lstStyle>
            <a:lvl1pPr>
              <a:defRPr sz="6600">
                <a:solidFill>
                  <a:srgbClr val="99003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65" name="Rectangle 38" descr="Pink tissue paper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4800" y="2590800"/>
            <a:ext cx="66294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2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9166" name="Rectangle 29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838200" y="6397625"/>
            <a:ext cx="4495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900" smtClean="0"/>
            </a:lvl1pPr>
          </a:lstStyle>
          <a:p>
            <a:r>
              <a:rPr lang="en-US" altLang="en-US"/>
              <a:t>Copyright © 2007 Ramez Elmasri and Shamkant B. Navathe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1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8- </a:t>
            </a:r>
            <a:fld id="{866FBCC7-F000-4D06-8078-3B7F430516A4}" type="slidenum">
              <a:rPr lang="en-US" altLang="en-US"/>
              <a:t>‹#›</a:t>
            </a:fld>
            <a:endParaRPr lang="en-CA" alt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7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73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8- </a:t>
            </a:r>
            <a:fld id="{12276F33-EBA1-482D-AC18-91858D5E64F1}" type="slidenum">
              <a:rPr lang="en-US" altLang="en-US"/>
              <a:t>‹#›</a:t>
            </a:fld>
            <a:endParaRPr lang="en-CA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48" name="Content Placeholder 2"/>
          <p:cNvSpPr>
            <a:spLocks noGrp="1"/>
          </p:cNvSpPr>
          <p:nvPr>
            <p:ph sz="half" idx="1"/>
          </p:nvPr>
        </p:nvSpPr>
        <p:spPr>
          <a:xfrm>
            <a:off x="239713" y="1600200"/>
            <a:ext cx="40703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49" name="Content Placeholder 3"/>
          <p:cNvSpPr>
            <a:spLocks noGrp="1"/>
          </p:cNvSpPr>
          <p:nvPr>
            <p:ph sz="half" idx="2"/>
          </p:nvPr>
        </p:nvSpPr>
        <p:spPr>
          <a:xfrm>
            <a:off x="4462463" y="1600200"/>
            <a:ext cx="407193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50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8- </a:t>
            </a:r>
            <a:fld id="{CAFAB05B-3DD6-46F0-8D96-BD3E28F8513E}" type="slidenum">
              <a:rPr lang="en-US" altLang="en-US"/>
              <a:t>‹#›</a:t>
            </a:fld>
            <a:endParaRPr lang="en-CA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52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53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5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55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56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8</a:t>
            </a:r>
            <a:fld id="{9E7B4FBF-DBFA-4B84-94A6-2EB5D8542749}" type="slidenum">
              <a:rPr lang="en-US" altLang="en-US"/>
              <a:t>‹#›</a:t>
            </a:fld>
            <a:endParaRPr lang="en-CA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8</a:t>
            </a:r>
            <a:fld id="{2A02A788-3813-45C2-BCE6-F2825FFE1D11}" type="slidenum">
              <a:rPr lang="en-US" altLang="en-US"/>
              <a:t>‹#›</a:t>
            </a:fld>
            <a:endParaRPr lang="en-CA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0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8- </a:t>
            </a:r>
            <a:fld id="{115A4419-12DE-4433-A3D1-C93C0176409F}" type="slidenum">
              <a:rPr lang="en-US" altLang="en-US"/>
              <a:t>‹#›</a:t>
            </a:fld>
            <a:endParaRPr lang="en-CA" alt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7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78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79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80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Slide8 </a:t>
            </a:r>
            <a:fld id="{0FDA8086-5688-41C9-942A-5B914BC9CAEF}" type="slidenum">
              <a:rPr lang="en-US" altLang="en-US"/>
              <a:t>‹#›</a:t>
            </a:fld>
            <a:endParaRPr lang="en-CA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7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68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9169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70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8</a:t>
            </a:r>
            <a:fld id="{EC9188E9-8F66-493A-8CFE-FBC4874B69A5}" type="slidenum">
              <a:rPr lang="en-US" altLang="en-US"/>
              <a:t>‹#›</a:t>
            </a:fld>
            <a:endParaRPr lang="en-CA" alt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7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76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1- </a:t>
            </a:r>
            <a:fld id="{5EE5EA86-15D6-4F30-9FC1-D29DDE4D19D3}" type="slidenum">
              <a:rPr lang="en-US" altLang="en-US"/>
              <a:t>‹#›</a:t>
            </a:fld>
            <a:endParaRPr lang="en-CA" alt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7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303213"/>
            <a:ext cx="2076450" cy="5868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5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3213"/>
            <a:ext cx="6076950" cy="58689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59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1- </a:t>
            </a:r>
            <a:fld id="{BF31E786-5630-457E-8739-12511A81E9F8}" type="slidenum">
              <a:rPr lang="en-US" altLang="en-US"/>
              <a:t>‹#›</a:t>
            </a:fld>
            <a:endParaRPr lang="en-CA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45"/>
          <p:cNvGrpSpPr/>
          <p:nvPr userDrawn="1"/>
        </p:nvGrpSpPr>
        <p:grpSpPr bwMode="auto"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1048576" name="Rectangle 38"/>
            <p:cNvSpPr>
              <a:spLocks noChangeArrowheads="1"/>
            </p:cNvSpPr>
            <p:nvPr userDrawn="1"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kumimoji="1" lang="en-US" altLang="en-US" sz="3200">
                <a:latin typeface="Tahoma" panose="020B0604030504040204" pitchFamily="34" charset="0"/>
                <a:ea typeface="+mn-ea"/>
              </a:endParaRPr>
            </a:p>
          </p:txBody>
        </p:sp>
        <p:grpSp>
          <p:nvGrpSpPr>
            <p:cNvPr id="15" name="Group 44"/>
            <p:cNvGrpSpPr/>
            <p:nvPr userDrawn="1"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048577" name="Rectangle 43"/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kumimoji="1" lang="en-US" altLang="en-US" sz="3200">
                  <a:latin typeface="Tahoma" panose="020B0604030504040204" pitchFamily="34" charset="0"/>
                  <a:ea typeface="+mn-ea"/>
                </a:endParaRPr>
              </a:p>
            </p:txBody>
          </p:sp>
          <p:sp>
            <p:nvSpPr>
              <p:cNvPr id="1048578" name="Rectangle 32"/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kumimoji="1" lang="en-US" altLang="en-US" sz="3200">
                  <a:latin typeface="Tahoma" panose="020B0604030504040204" pitchFamily="34" charset="0"/>
                  <a:ea typeface="+mn-ea"/>
                </a:endParaRPr>
              </a:p>
            </p:txBody>
          </p:sp>
        </p:grpSp>
      </p:grpSp>
      <p:sp>
        <p:nvSpPr>
          <p:cNvPr id="1048579" name="Rectangle 37"/>
          <p:cNvSpPr>
            <a:spLocks noChangeArrowheads="1"/>
          </p:cNvSpPr>
          <p:nvPr userDrawn="1"/>
        </p:nvSpPr>
        <p:spPr bwMode="gray">
          <a:xfrm rot="-5400000">
            <a:off x="3845719" y="-3845719"/>
            <a:ext cx="1449388" cy="9140825"/>
          </a:xfrm>
          <a:prstGeom prst="rect">
            <a:avLst/>
          </a:prstGeom>
          <a:solidFill>
            <a:srgbClr val="677228">
              <a:alpha val="36078"/>
            </a:srgbClr>
          </a:solidFill>
          <a:ln>
            <a:noFill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3200">
              <a:latin typeface="Tahoma" panose="020B0604030504040204" pitchFamily="34" charset="0"/>
              <a:ea typeface="+mn-ea"/>
            </a:endParaRPr>
          </a:p>
        </p:txBody>
      </p:sp>
      <p:sp>
        <p:nvSpPr>
          <p:cNvPr id="1048580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485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>
                <a:solidFill>
                  <a:srgbClr val="990033"/>
                </a:solidFill>
              </a:defRPr>
            </a:lvl1pPr>
          </a:lstStyle>
          <a:p>
            <a:r>
              <a:rPr lang="en-US" altLang="en-US"/>
              <a:t>Slide 1- </a:t>
            </a:r>
            <a:fld id="{18401BC5-AB97-44D9-85C2-F9505BA0E7B9}" type="slidenum">
              <a:rPr lang="en-US" altLang="en-US"/>
              <a:t>‹#›</a:t>
            </a:fld>
            <a:endParaRPr lang="en-CA" altLang="en-US"/>
          </a:p>
        </p:txBody>
      </p:sp>
      <p:sp>
        <p:nvSpPr>
          <p:cNvPr id="1048582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583" name="Rectangle 30"/>
          <p:cNvSpPr>
            <a:spLocks noChangeArrowheads="1"/>
          </p:cNvSpPr>
          <p:nvPr/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900"/>
              <a:t>Copyright © 2016 Ramez Elmasri and Shamkant B. Navathe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ransition spd="med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600">
          <a:solidFill>
            <a:srgbClr val="800000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4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000">
          <a:solidFill>
            <a:srgbClr val="800000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bs.org/empires/islam/innoalgebra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28950" y="1516063"/>
            <a:ext cx="3892550" cy="4840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</a:t>
            </a:r>
          </a:p>
        </p:txBody>
      </p:sp>
      <p:sp>
        <p:nvSpPr>
          <p:cNvPr id="104859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294688" cy="4572000"/>
          </a:xfrm>
        </p:spPr>
        <p:txBody>
          <a:bodyPr/>
          <a:lstStyle/>
          <a:p>
            <a:endParaRPr lang="en-US" dirty="0">
              <a:ea typeface="+mn-ea"/>
              <a:cs typeface="+mn-cs"/>
            </a:endParaRPr>
          </a:p>
          <a:p>
            <a:endParaRPr lang="en-US" dirty="0">
              <a:ea typeface="+mn-ea"/>
              <a:cs typeface="+mn-cs"/>
            </a:endParaRPr>
          </a:p>
          <a:p>
            <a:endParaRPr lang="en-US" dirty="0">
              <a:ea typeface="+mn-ea"/>
              <a:cs typeface="+mn-cs"/>
            </a:endParaRP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US" sz="3200" b="1" dirty="0">
                <a:ea typeface="+mn-ea"/>
                <a:cs typeface="+mn-cs"/>
              </a:rPr>
              <a:t>CHAPTER 8</a:t>
            </a:r>
          </a:p>
          <a:p>
            <a:pPr marL="0" indent="0" algn="ctr">
              <a:buFont typeface="Wingdings" panose="05000000000000000000" pitchFamily="2" charset="2"/>
              <a:buNone/>
            </a:pPr>
            <a:endParaRPr lang="en-US" sz="3200" b="1" dirty="0">
              <a:ea typeface="+mn-ea"/>
              <a:cs typeface="+mn-cs"/>
            </a:endParaRP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US" sz="3600" b="1" dirty="0">
                <a:ea typeface="+mn-ea"/>
                <a:cs typeface="+mn-cs"/>
              </a:rPr>
              <a:t>The Relational Algebra and </a:t>
            </a: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US" sz="3600" b="1" dirty="0">
                <a:ea typeface="+mn-ea"/>
                <a:cs typeface="+mn-cs"/>
              </a:rPr>
              <a:t>The Relational Calculus</a:t>
            </a:r>
          </a:p>
        </p:txBody>
      </p:sp>
      <p:sp>
        <p:nvSpPr>
          <p:cNvPr id="10485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8- 2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25CC1FD8-CE9D-4F5B-95EC-A06D8B523EBA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599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Chapter Outline</a:t>
            </a:r>
          </a:p>
        </p:txBody>
      </p:sp>
      <p:sp>
        <p:nvSpPr>
          <p:cNvPr id="104860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Relational Algebra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Unary Relational Operations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Relational Algebra Operations From Set Theory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Binary Relational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Additional Relational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Examples of Queries in Relational Algebra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Relational Calculus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Tuple Relational Calculus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Domain Relational Calculus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Example Database Application (COMPANY)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E9A23052-7AD4-4884-B91D-CA0319745FBA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605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Relational Algebra Overview</a:t>
            </a:r>
          </a:p>
        </p:txBody>
      </p:sp>
      <p:sp>
        <p:nvSpPr>
          <p:cNvPr id="104860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Relational algebra is the basic set of operations for the relational model</a:t>
            </a:r>
          </a:p>
          <a:p>
            <a:pPr eaLnBrk="1" hangingPunct="1"/>
            <a:r>
              <a:rPr lang="en-US" altLang="en-US" sz="2700"/>
              <a:t>These operations enable a user to specify </a:t>
            </a:r>
            <a:r>
              <a:rPr lang="en-US" altLang="en-US" sz="2700" b="1"/>
              <a:t>basic retrieval requests</a:t>
            </a:r>
            <a:r>
              <a:rPr lang="en-US" altLang="en-US" sz="2700"/>
              <a:t> (or </a:t>
            </a:r>
            <a:r>
              <a:rPr lang="en-US" altLang="en-US" sz="2700" b="1"/>
              <a:t>queries</a:t>
            </a:r>
            <a:r>
              <a:rPr lang="en-US" altLang="en-US" sz="2700"/>
              <a:t>) </a:t>
            </a:r>
          </a:p>
          <a:p>
            <a:pPr eaLnBrk="1" hangingPunct="1"/>
            <a:r>
              <a:rPr lang="en-US" altLang="en-US"/>
              <a:t>The result of an operation is a </a:t>
            </a:r>
            <a:r>
              <a:rPr lang="en-US" altLang="en-US" i="1"/>
              <a:t>new relation</a:t>
            </a:r>
            <a:r>
              <a:rPr lang="en-US" altLang="en-US"/>
              <a:t>, which may have been formed from one or more </a:t>
            </a:r>
            <a:r>
              <a:rPr lang="en-US" altLang="en-US" i="1"/>
              <a:t>input</a:t>
            </a:r>
            <a:r>
              <a:rPr lang="en-US" altLang="en-US"/>
              <a:t> relations</a:t>
            </a:r>
          </a:p>
          <a:p>
            <a:pPr lvl="1" eaLnBrk="1" hangingPunct="1"/>
            <a:r>
              <a:rPr lang="en-US" altLang="en-US"/>
              <a:t>This property makes the algebra “closed” (all objects in relational algebra are relations)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6FDD4266-1648-4117-A2CB-5D9AB567533E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61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Relational Algebra Overview (continued)</a:t>
            </a:r>
          </a:p>
        </p:txBody>
      </p:sp>
      <p:sp>
        <p:nvSpPr>
          <p:cNvPr id="10486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</a:t>
            </a:r>
            <a:r>
              <a:rPr lang="en-US" altLang="en-US" b="1"/>
              <a:t>algebra operations</a:t>
            </a:r>
            <a:r>
              <a:rPr lang="en-US" altLang="en-US"/>
              <a:t> thus produce new relations</a:t>
            </a:r>
          </a:p>
          <a:p>
            <a:pPr lvl="1" eaLnBrk="1" hangingPunct="1"/>
            <a:r>
              <a:rPr lang="en-US" altLang="en-US"/>
              <a:t>These can be further manipulated using operations of the same algebra</a:t>
            </a:r>
          </a:p>
          <a:p>
            <a:pPr eaLnBrk="1" hangingPunct="1"/>
            <a:r>
              <a:rPr lang="en-US" altLang="en-US"/>
              <a:t>A sequence of relational algebra operations forms a </a:t>
            </a:r>
            <a:r>
              <a:rPr lang="en-US" altLang="en-US" b="1"/>
              <a:t>relational algebra expression</a:t>
            </a:r>
          </a:p>
          <a:p>
            <a:pPr lvl="1" eaLnBrk="1" hangingPunct="1"/>
            <a:r>
              <a:rPr lang="en-US" altLang="en-US" sz="2500"/>
              <a:t>The result of a relational algebra expression is also a relation that represents the result of a database query (or retrieval request)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EA6ABBAA-5D6A-41A0-BC6E-833D62DAA318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617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Brief History of Origins of Algebra</a:t>
            </a:r>
          </a:p>
        </p:txBody>
      </p:sp>
      <p:sp>
        <p:nvSpPr>
          <p:cNvPr id="104861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Muhammad ibn Musa al-Khwarizmi (800-847 CE) – from Morocco wrote a book titled al-jabr about arithmetic of variables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/>
              <a:t>Book was translated into Latin.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/>
              <a:t>Its title (al-jabr) gave Algebra its name.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100"/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Al-Khwarizmi called variables “shay”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/>
              <a:t>“Shay” is Arabic for “thing”.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/>
              <a:t>Spanish transliterated “shay” as “xay” (“x” was “sh” in Spain).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/>
              <a:t>In time this word was abbreviated as x.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100"/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Where does the word Algorithm come from?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/>
              <a:t>Algorithm originates from “al-Khwarizmi"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/>
              <a:t>Reference: PBS (</a:t>
            </a:r>
            <a:r>
              <a:rPr lang="en-US" altLang="en-US" sz="1700">
                <a:hlinkClick r:id="rId3"/>
              </a:rPr>
              <a:t>http://www.pbs.org/empires/islam/innoalgebra.html</a:t>
            </a:r>
            <a:r>
              <a:rPr lang="en-US" altLang="en-US" sz="2100"/>
              <a:t>)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45A78853-0A75-4DE0-9E83-0AE53082B9EF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62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Relational Algebra Overview</a:t>
            </a:r>
          </a:p>
        </p:txBody>
      </p:sp>
      <p:sp>
        <p:nvSpPr>
          <p:cNvPr id="10486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/>
              <a:t>Relational Algebra consists of several groups of operations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Unary Relational Operations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/>
              <a:t>SELECT (symbol: </a:t>
            </a:r>
            <a:r>
              <a:rPr lang="en-US" altLang="en-US" b="1">
                <a:latin typeface="Symbol" panose="05050102010706020507" pitchFamily="18" charset="2"/>
              </a:rPr>
              <a:t></a:t>
            </a:r>
            <a:r>
              <a:rPr lang="en-US" altLang="en-US" sz="1800"/>
              <a:t> (sigma))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/>
              <a:t>PROJECT (symbol: </a:t>
            </a:r>
            <a:r>
              <a:rPr lang="en-US" altLang="en-US" sz="1800" b="1">
                <a:latin typeface="Symbol" panose="05050102010706020507" pitchFamily="18" charset="2"/>
              </a:rPr>
              <a:t> </a:t>
            </a:r>
            <a:r>
              <a:rPr lang="en-US" altLang="en-US" sz="1800"/>
              <a:t>(pi))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/>
              <a:t>RENAME (symbol: </a:t>
            </a:r>
            <a:r>
              <a:rPr lang="en-US" altLang="en-US" sz="1800" b="1">
                <a:sym typeface="Symbol" panose="05050102010706020507" pitchFamily="18" charset="2"/>
              </a:rPr>
              <a:t></a:t>
            </a:r>
            <a:r>
              <a:rPr lang="en-US" altLang="en-US" sz="1800">
                <a:sym typeface="Symbol" panose="05050102010706020507" pitchFamily="18" charset="2"/>
              </a:rPr>
              <a:t> </a:t>
            </a:r>
            <a:r>
              <a:rPr lang="en-US" altLang="en-US" sz="1800"/>
              <a:t>(rho))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Relational Algebra Operations From Set Theory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/>
              <a:t>UNION ( </a:t>
            </a:r>
            <a:r>
              <a:rPr lang="en-US" altLang="en-US" sz="1800" b="1">
                <a:latin typeface="Symbol" panose="05050102010706020507" pitchFamily="18" charset="2"/>
              </a:rPr>
              <a:t></a:t>
            </a:r>
            <a:r>
              <a:rPr lang="en-US" altLang="en-US" sz="1800"/>
              <a:t> ), INTERSECTION ( </a:t>
            </a:r>
            <a:r>
              <a:rPr lang="en-US" altLang="en-US" sz="1800" b="1">
                <a:latin typeface="Symbol" panose="05050102010706020507" pitchFamily="18" charset="2"/>
              </a:rPr>
              <a:t></a:t>
            </a:r>
            <a:r>
              <a:rPr lang="en-US" altLang="en-US" sz="1800">
                <a:latin typeface="Symbol" panose="05050102010706020507" pitchFamily="18" charset="2"/>
              </a:rPr>
              <a:t> </a:t>
            </a:r>
            <a:r>
              <a:rPr lang="en-US" altLang="en-US" sz="1800"/>
              <a:t>), DIFFERENCE (or MINUS, </a:t>
            </a:r>
            <a:r>
              <a:rPr lang="en-US" altLang="en-US" sz="1800" b="1"/>
              <a:t>–</a:t>
            </a:r>
            <a:r>
              <a:rPr lang="en-US" altLang="en-US" sz="1800"/>
              <a:t> 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/>
              <a:t>CARTESIAN PRODUCT ( </a:t>
            </a:r>
            <a:r>
              <a:rPr lang="en-US" altLang="en-US" sz="1800" b="1"/>
              <a:t>x</a:t>
            </a:r>
            <a:r>
              <a:rPr lang="en-US" altLang="en-US" sz="1800"/>
              <a:t> 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Binary Relational Operations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/>
              <a:t>JOIN (several variations of JOIN exist)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/>
              <a:t>DIVISION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Additional Relational Operations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/>
              <a:t>OUTER JOINS, OUTER UNION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/>
              <a:t>AGGREGATE FUNCTIONS (These compute summary of information: for example, SUM, COUNT, AVG, MIN, MAX)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F8A184BB-FD1B-49C1-A6EC-357B8BF2350D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62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Database State for COMPANY</a:t>
            </a:r>
          </a:p>
        </p:txBody>
      </p:sp>
      <p:sp>
        <p:nvSpPr>
          <p:cNvPr id="10486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All examples discussed below refer to the COMPANY database shown here.</a:t>
            </a:r>
          </a:p>
          <a:p>
            <a:pPr eaLnBrk="1" hangingPunct="1"/>
            <a:endParaRPr lang="en-US" altLang="en-US" sz="2000"/>
          </a:p>
        </p:txBody>
      </p:sp>
      <p:pic>
        <p:nvPicPr>
          <p:cNvPr id="2097153" name="Picture 6" descr="fig05_0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38413" y="2057400"/>
            <a:ext cx="5995987" cy="445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19553E77-F2CA-42E8-BAA2-3173A596ED41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635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Unary Relational Operations: SELECT</a:t>
            </a:r>
          </a:p>
        </p:txBody>
      </p:sp>
      <p:sp>
        <p:nvSpPr>
          <p:cNvPr id="104863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SELECT operation (denoted by </a:t>
            </a:r>
            <a:r>
              <a:rPr lang="en-US" altLang="en-US" b="1">
                <a:latin typeface="Symbol" panose="05050102010706020507" pitchFamily="18" charset="2"/>
              </a:rPr>
              <a:t></a:t>
            </a:r>
            <a:r>
              <a:rPr lang="en-US" altLang="en-US" sz="2000"/>
              <a:t> (sigma)) is used to select a </a:t>
            </a:r>
            <a:r>
              <a:rPr lang="en-US" altLang="en-US" sz="2000" i="1"/>
              <a:t>subset</a:t>
            </a:r>
            <a:r>
              <a:rPr lang="en-US" altLang="en-US" sz="2000"/>
              <a:t> of the tuples from a relation based on a </a:t>
            </a:r>
            <a:r>
              <a:rPr lang="en-US" altLang="en-US" sz="2000" b="1"/>
              <a:t>selection condition</a:t>
            </a:r>
            <a:r>
              <a:rPr lang="en-US" altLang="en-US" sz="200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The selection condition acts as a </a:t>
            </a:r>
            <a:r>
              <a:rPr lang="en-US" altLang="en-US" sz="2200" b="1"/>
              <a:t>filter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Keeps only those tuples that satisfy the qualifying condition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Tuples satisfying the condition are </a:t>
            </a:r>
            <a:r>
              <a:rPr lang="en-US" altLang="en-US" sz="2200" i="1"/>
              <a:t>selected</a:t>
            </a:r>
            <a:r>
              <a:rPr lang="en-US" altLang="en-US" sz="2200"/>
              <a:t> whereas the other tuples are discarded (</a:t>
            </a:r>
            <a:r>
              <a:rPr lang="en-US" altLang="en-US" sz="2200" i="1"/>
              <a:t>filtered out</a:t>
            </a:r>
            <a:r>
              <a:rPr lang="en-US" altLang="en-US" sz="220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Select the EMPLOYEE tuples whose department number is 4: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>
                <a:latin typeface="Symbol" panose="05050102010706020507" pitchFamily="18" charset="2"/>
              </a:rPr>
              <a:t></a:t>
            </a:r>
            <a:r>
              <a:rPr lang="en-US" altLang="en-US" sz="2000"/>
              <a:t> </a:t>
            </a:r>
            <a:r>
              <a:rPr lang="en-US" altLang="en-US" sz="2000" baseline="-25000"/>
              <a:t>DNO = 4</a:t>
            </a:r>
            <a:r>
              <a:rPr lang="en-US" altLang="en-US" sz="2000"/>
              <a:t> (EMPLOYEE)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Select the employee tuples whose salary is greater than $30,000: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>
                <a:latin typeface="Symbol" panose="05050102010706020507" pitchFamily="18" charset="2"/>
              </a:rPr>
              <a:t></a:t>
            </a:r>
            <a:r>
              <a:rPr lang="en-US" altLang="en-US" sz="2000"/>
              <a:t> </a:t>
            </a:r>
            <a:r>
              <a:rPr lang="en-US" altLang="en-US" sz="2000" baseline="-25000"/>
              <a:t>SALARY &gt; 30,000</a:t>
            </a:r>
            <a:r>
              <a:rPr lang="en-US" altLang="en-US" sz="2000"/>
              <a:t> (EMPLOYEE)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F4216471-8C6A-4AE1-998F-BF5EEBA81A25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64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Unary Relational Operations: SELECT</a:t>
            </a:r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US" altLang="en-US" sz="2800"/>
              <a:t>In general, the </a:t>
            </a:r>
            <a:r>
              <a:rPr lang="en-US" altLang="en-US" sz="2800" i="1"/>
              <a:t>select</a:t>
            </a:r>
            <a:r>
              <a:rPr lang="en-US" altLang="en-US" sz="2800"/>
              <a:t> operation is denoted by </a:t>
            </a:r>
            <a:r>
              <a:rPr lang="en-US" altLang="en-US" sz="3600" b="1">
                <a:latin typeface="Symbol" panose="05050102010706020507" pitchFamily="18" charset="2"/>
              </a:rPr>
              <a:t></a:t>
            </a:r>
            <a:r>
              <a:rPr lang="en-US" altLang="en-US" sz="2800"/>
              <a:t> </a:t>
            </a:r>
            <a:r>
              <a:rPr lang="en-US" altLang="en-US" sz="2800" baseline="-25000"/>
              <a:t>&lt;selection condition&gt;</a:t>
            </a:r>
            <a:r>
              <a:rPr lang="en-US" altLang="en-US" sz="2800"/>
              <a:t>(R) where</a:t>
            </a:r>
          </a:p>
          <a:p>
            <a:pPr lvl="2" eaLnBrk="1" hangingPunct="1"/>
            <a:r>
              <a:rPr lang="en-US" altLang="en-US"/>
              <a:t>the symbol </a:t>
            </a:r>
            <a:r>
              <a:rPr lang="en-US" altLang="en-US" sz="3200" b="1">
                <a:latin typeface="Symbol" panose="05050102010706020507" pitchFamily="18" charset="2"/>
              </a:rPr>
              <a:t></a:t>
            </a:r>
            <a:r>
              <a:rPr lang="en-US" altLang="en-US"/>
              <a:t> (sigma) is used to denote the </a:t>
            </a:r>
            <a:r>
              <a:rPr lang="en-US" altLang="en-US" i="1"/>
              <a:t>select</a:t>
            </a:r>
            <a:r>
              <a:rPr lang="en-US" altLang="en-US"/>
              <a:t> operator</a:t>
            </a:r>
          </a:p>
          <a:p>
            <a:pPr lvl="2" eaLnBrk="1" hangingPunct="1"/>
            <a:r>
              <a:rPr lang="en-US" altLang="en-US"/>
              <a:t>the selection condition is a Boolean (conditional) expression specified on the attributes of relation R</a:t>
            </a:r>
          </a:p>
          <a:p>
            <a:pPr lvl="2" eaLnBrk="1" hangingPunct="1"/>
            <a:r>
              <a:rPr lang="en-US" altLang="en-US"/>
              <a:t>tuples that make the condition </a:t>
            </a:r>
            <a:r>
              <a:rPr lang="en-US" altLang="en-US" b="1"/>
              <a:t>true </a:t>
            </a:r>
            <a:r>
              <a:rPr lang="en-US" altLang="en-US"/>
              <a:t>are selected</a:t>
            </a:r>
          </a:p>
          <a:p>
            <a:pPr lvl="3" eaLnBrk="1" hangingPunct="1"/>
            <a:r>
              <a:rPr lang="en-US" altLang="en-US"/>
              <a:t>appear in the result of the operation</a:t>
            </a:r>
          </a:p>
          <a:p>
            <a:pPr lvl="2" eaLnBrk="1" hangingPunct="1"/>
            <a:r>
              <a:rPr lang="en-US" altLang="en-US"/>
              <a:t>tuples that make the condition </a:t>
            </a:r>
            <a:r>
              <a:rPr lang="en-US" altLang="en-US" b="1"/>
              <a:t>false </a:t>
            </a:r>
            <a:r>
              <a:rPr lang="en-US" altLang="en-US"/>
              <a:t>are filtered out</a:t>
            </a:r>
          </a:p>
          <a:p>
            <a:pPr lvl="3" eaLnBrk="1" hangingPunct="1"/>
            <a:r>
              <a:rPr lang="en-US" altLang="en-US"/>
              <a:t>discarded from the result of the operation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76B51BB5-C919-4597-AB93-A54D775AFA1F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647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Unary Relational Operations: SELECT (continued)</a:t>
            </a:r>
          </a:p>
        </p:txBody>
      </p:sp>
      <p:sp>
        <p:nvSpPr>
          <p:cNvPr id="104864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SELECT Operation Properties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/>
              <a:t>The SELECT operation </a:t>
            </a:r>
            <a:r>
              <a:rPr lang="en-US" altLang="en-US" sz="2100">
                <a:latin typeface="Symbol" panose="05050102010706020507" pitchFamily="18" charset="2"/>
              </a:rPr>
              <a:t></a:t>
            </a:r>
            <a:r>
              <a:rPr lang="en-US" altLang="en-US" sz="2100"/>
              <a:t> </a:t>
            </a:r>
            <a:r>
              <a:rPr lang="en-US" altLang="en-US" sz="2100" baseline="-25000"/>
              <a:t>&lt;selection condition&gt;</a:t>
            </a:r>
            <a:r>
              <a:rPr lang="en-US" altLang="en-US" sz="2100"/>
              <a:t>(R) produces a relation S that has the same schema (same attributes) as 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/>
              <a:t>SELECT </a:t>
            </a:r>
            <a:r>
              <a:rPr lang="en-US" altLang="en-US" sz="2100">
                <a:latin typeface="Symbol" panose="05050102010706020507" pitchFamily="18" charset="2"/>
              </a:rPr>
              <a:t></a:t>
            </a:r>
            <a:r>
              <a:rPr lang="en-US" altLang="en-US" sz="2100"/>
              <a:t> is commutative: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>
                <a:latin typeface="Symbol" panose="05050102010706020507" pitchFamily="18" charset="2"/>
              </a:rPr>
              <a:t></a:t>
            </a:r>
            <a:r>
              <a:rPr lang="en-US" altLang="en-US" sz="2000"/>
              <a:t> </a:t>
            </a:r>
            <a:r>
              <a:rPr lang="en-US" altLang="en-US" sz="2100" baseline="-25000"/>
              <a:t>&lt;condition1&gt;</a:t>
            </a:r>
            <a:r>
              <a:rPr lang="en-US" altLang="en-US" sz="2000"/>
              <a:t>(</a:t>
            </a:r>
            <a:r>
              <a:rPr lang="en-US" altLang="en-US" sz="2000">
                <a:latin typeface="Symbol" panose="05050102010706020507" pitchFamily="18" charset="2"/>
              </a:rPr>
              <a:t></a:t>
            </a:r>
            <a:r>
              <a:rPr lang="en-US" altLang="en-US" sz="2000"/>
              <a:t> </a:t>
            </a:r>
            <a:r>
              <a:rPr lang="en-US" altLang="en-US" sz="2100" baseline="-25000"/>
              <a:t>&lt; condition2&gt;</a:t>
            </a:r>
            <a:r>
              <a:rPr lang="en-US" altLang="en-US" sz="2000"/>
              <a:t> (R)) = </a:t>
            </a:r>
            <a:r>
              <a:rPr lang="en-US" altLang="en-US" sz="2000">
                <a:latin typeface="Symbol" panose="05050102010706020507" pitchFamily="18" charset="2"/>
              </a:rPr>
              <a:t></a:t>
            </a:r>
            <a:r>
              <a:rPr lang="en-US" altLang="en-US" sz="2000"/>
              <a:t> </a:t>
            </a:r>
            <a:r>
              <a:rPr lang="en-US" altLang="en-US" sz="2100" baseline="-25000"/>
              <a:t>&lt;condition2&gt;</a:t>
            </a:r>
            <a:r>
              <a:rPr lang="en-US" altLang="en-US" sz="2000"/>
              <a:t> (</a:t>
            </a:r>
            <a:r>
              <a:rPr lang="en-US" altLang="en-US" sz="2000">
                <a:latin typeface="Symbol" panose="05050102010706020507" pitchFamily="18" charset="2"/>
              </a:rPr>
              <a:t></a:t>
            </a:r>
            <a:r>
              <a:rPr lang="en-US" altLang="en-US" sz="2000"/>
              <a:t> </a:t>
            </a:r>
            <a:r>
              <a:rPr lang="en-US" altLang="en-US" sz="2100" baseline="-25000"/>
              <a:t>&lt; condition1&gt;</a:t>
            </a:r>
            <a:r>
              <a:rPr lang="en-US" altLang="en-US" sz="2000"/>
              <a:t> (R))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/>
              <a:t>Because of commutativity property, a cascade (sequence) of SELECT operations may be applied in any order: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>
                <a:latin typeface="Symbol" panose="05050102010706020507" pitchFamily="18" charset="2"/>
              </a:rPr>
              <a:t></a:t>
            </a:r>
            <a:r>
              <a:rPr lang="en-US" altLang="en-US" sz="2000" baseline="-25000"/>
              <a:t>&lt;cond1&gt;</a:t>
            </a:r>
            <a:r>
              <a:rPr lang="en-US" altLang="en-US" sz="2000"/>
              <a:t>(</a:t>
            </a:r>
            <a:r>
              <a:rPr lang="en-US" altLang="en-US" sz="2000">
                <a:latin typeface="Symbol" panose="05050102010706020507" pitchFamily="18" charset="2"/>
              </a:rPr>
              <a:t></a:t>
            </a:r>
            <a:r>
              <a:rPr lang="en-US" altLang="en-US" sz="2000" baseline="-25000"/>
              <a:t>&lt;cond2&gt;</a:t>
            </a:r>
            <a:r>
              <a:rPr lang="en-US" altLang="en-US" sz="2000"/>
              <a:t> (</a:t>
            </a:r>
            <a:r>
              <a:rPr lang="en-US" altLang="en-US" sz="2000">
                <a:latin typeface="Symbol" panose="05050102010706020507" pitchFamily="18" charset="2"/>
              </a:rPr>
              <a:t></a:t>
            </a:r>
            <a:r>
              <a:rPr lang="en-US" altLang="en-US" sz="2000" baseline="-25000"/>
              <a:t>&lt;cond3&gt;</a:t>
            </a:r>
            <a:r>
              <a:rPr lang="en-US" altLang="en-US" sz="2000"/>
              <a:t> (R)) = </a:t>
            </a:r>
            <a:r>
              <a:rPr lang="en-US" altLang="en-US" sz="2000">
                <a:latin typeface="Symbol" panose="05050102010706020507" pitchFamily="18" charset="2"/>
              </a:rPr>
              <a:t></a:t>
            </a:r>
            <a:r>
              <a:rPr lang="en-US" altLang="en-US" sz="2000" baseline="-25000"/>
              <a:t>&lt;cond2&gt;</a:t>
            </a:r>
            <a:r>
              <a:rPr lang="en-US" altLang="en-US" sz="2000"/>
              <a:t> (</a:t>
            </a:r>
            <a:r>
              <a:rPr lang="en-US" altLang="en-US" sz="2000">
                <a:latin typeface="Symbol" panose="05050102010706020507" pitchFamily="18" charset="2"/>
              </a:rPr>
              <a:t></a:t>
            </a:r>
            <a:r>
              <a:rPr lang="en-US" altLang="en-US" sz="2000" baseline="-25000"/>
              <a:t>&lt;cond3&gt;</a:t>
            </a:r>
            <a:r>
              <a:rPr lang="en-US" altLang="en-US" sz="2000"/>
              <a:t> (</a:t>
            </a:r>
            <a:r>
              <a:rPr lang="en-US" altLang="en-US" sz="2000">
                <a:latin typeface="Symbol" panose="05050102010706020507" pitchFamily="18" charset="2"/>
              </a:rPr>
              <a:t></a:t>
            </a:r>
            <a:r>
              <a:rPr lang="en-US" altLang="en-US" sz="2000" baseline="-25000"/>
              <a:t>&lt;cond1&gt;</a:t>
            </a:r>
            <a:r>
              <a:rPr lang="en-US" altLang="en-US" sz="2000"/>
              <a:t> ( R)))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/>
              <a:t>A cascade of SELECT operations may be replaced by a single selection with a conjunction of all the conditions: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>
                <a:latin typeface="Symbol" panose="05050102010706020507" pitchFamily="18" charset="2"/>
              </a:rPr>
              <a:t></a:t>
            </a:r>
            <a:r>
              <a:rPr lang="en-US" altLang="en-US" sz="2000" baseline="-25000"/>
              <a:t>&lt;cond1&gt;</a:t>
            </a:r>
            <a:r>
              <a:rPr lang="en-US" altLang="en-US" sz="2000"/>
              <a:t>(</a:t>
            </a:r>
            <a:r>
              <a:rPr lang="en-US" altLang="en-US" sz="2000">
                <a:latin typeface="Symbol" panose="05050102010706020507" pitchFamily="18" charset="2"/>
              </a:rPr>
              <a:t></a:t>
            </a:r>
            <a:r>
              <a:rPr lang="en-US" altLang="en-US" sz="2000" baseline="-25000"/>
              <a:t>&lt; cond2&gt;</a:t>
            </a:r>
            <a:r>
              <a:rPr lang="en-US" altLang="en-US" sz="2000"/>
              <a:t> (</a:t>
            </a:r>
            <a:r>
              <a:rPr lang="en-US" altLang="en-US" sz="2000">
                <a:latin typeface="Symbol" panose="05050102010706020507" pitchFamily="18" charset="2"/>
              </a:rPr>
              <a:t></a:t>
            </a:r>
            <a:r>
              <a:rPr lang="en-US" altLang="en-US" sz="2000" baseline="-25000"/>
              <a:t>&lt;cond3&gt;</a:t>
            </a:r>
            <a:r>
              <a:rPr lang="en-US" altLang="en-US" sz="2000"/>
              <a:t>(R)) = </a:t>
            </a:r>
            <a:r>
              <a:rPr lang="en-US" altLang="en-US" sz="2000">
                <a:latin typeface="Symbol" panose="05050102010706020507" pitchFamily="18" charset="2"/>
              </a:rPr>
              <a:t></a:t>
            </a:r>
            <a:r>
              <a:rPr lang="en-US" altLang="en-US" sz="2000" baseline="-25000"/>
              <a:t> &lt;cond1&gt; AND &lt; cond2&gt; AND &lt; cond3&gt;</a:t>
            </a:r>
            <a:r>
              <a:rPr lang="en-US" altLang="en-US" sz="2000"/>
              <a:t>(R)))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The number of tuples in the result of a SELECT is less than (or equal to) the number of tuples in the input relation R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100"/>
          </a:p>
          <a:p>
            <a:pPr lvl="2" eaLnBrk="1" hangingPunct="1">
              <a:lnSpc>
                <a:spcPct val="80000"/>
              </a:lnSpc>
            </a:pPr>
            <a:endParaRPr lang="en-US" altLang="en-US" sz="200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BC127DD8-F87D-4AF3-A589-AACACFCA56DB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653" name="Rectangle 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The following query results refer to this database state</a:t>
            </a:r>
          </a:p>
        </p:txBody>
      </p:sp>
      <p:sp>
        <p:nvSpPr>
          <p:cNvPr id="1048654" name="Rectangle 3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1048655" name="Rectangle 8"/>
          <p:cNvSpPr>
            <a:spLocks noChangeArrowheads="1"/>
          </p:cNvSpPr>
          <p:nvPr/>
        </p:nvSpPr>
        <p:spPr bwMode="auto">
          <a:xfrm>
            <a:off x="1066800" y="2286000"/>
            <a:ext cx="72390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pic>
        <p:nvPicPr>
          <p:cNvPr id="2097154" name="Picture 9" descr="fig05_0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4600" y="1524000"/>
            <a:ext cx="3827463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7CD872F2-686A-4A42-AFA9-899AD0E02325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660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Unary Relational Operations: PROJECT</a:t>
            </a:r>
          </a:p>
        </p:txBody>
      </p:sp>
      <p:sp>
        <p:nvSpPr>
          <p:cNvPr id="104866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PROJECT Operation is denoted by </a:t>
            </a:r>
            <a:r>
              <a:rPr lang="en-US" altLang="en-US" b="1">
                <a:latin typeface="Symbol" panose="05050102010706020507" pitchFamily="18" charset="2"/>
              </a:rPr>
              <a:t></a:t>
            </a:r>
            <a:r>
              <a:rPr lang="en-US" altLang="en-US">
                <a:latin typeface="Symbol" panose="05050102010706020507" pitchFamily="18" charset="2"/>
              </a:rPr>
              <a:t> </a:t>
            </a:r>
            <a:r>
              <a:rPr lang="en-US" altLang="en-US"/>
              <a:t>(pi)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This operation keeps certain </a:t>
            </a:r>
            <a:r>
              <a:rPr lang="en-US" altLang="en-US" i="1"/>
              <a:t>columns</a:t>
            </a:r>
            <a:r>
              <a:rPr lang="en-US" altLang="en-US"/>
              <a:t> (attributes) from a relation and discards the other columns.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PROJECT creates a vertical partitioning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The list of specified columns (attributes) is kept in each tuple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The other attributes in each tuple are discarded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Example: To list each employee’s first and last name and salary, the following is used:</a:t>
            </a:r>
          </a:p>
          <a:p>
            <a:pPr lvl="1"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Symbol" panose="05050102010706020507" pitchFamily="18" charset="2"/>
              </a:rPr>
              <a:t></a:t>
            </a:r>
            <a:r>
              <a:rPr lang="en-US" altLang="en-US" baseline="-25000"/>
              <a:t>LNAME, FNAME,SALARY</a:t>
            </a:r>
            <a:r>
              <a:rPr lang="en-US" altLang="en-US"/>
              <a:t>(EMPLOYEE)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B16146C6-6325-4E1B-8FF2-40D47B828BD4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6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Unary Relational Operations: PROJECT (cont.)</a:t>
            </a:r>
          </a:p>
        </p:txBody>
      </p:sp>
      <p:sp>
        <p:nvSpPr>
          <p:cNvPr id="1048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/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The general form of the </a:t>
            </a:r>
            <a:r>
              <a:rPr lang="en-US" altLang="en-US" i="1"/>
              <a:t>project</a:t>
            </a:r>
            <a:r>
              <a:rPr lang="en-US" altLang="en-US"/>
              <a:t> operation is: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Symbol" panose="05050102010706020507" pitchFamily="18" charset="2"/>
              </a:rPr>
              <a:t></a:t>
            </a:r>
            <a:r>
              <a:rPr lang="en-US" altLang="en-US" baseline="-25000"/>
              <a:t>&lt;attribute list&gt;</a:t>
            </a:r>
            <a:r>
              <a:rPr lang="en-US" altLang="en-US"/>
              <a:t>(R)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>
                <a:latin typeface="Symbol" panose="05050102010706020507" pitchFamily="18" charset="2"/>
              </a:rPr>
              <a:t></a:t>
            </a:r>
            <a:r>
              <a:rPr lang="en-US" altLang="en-US"/>
              <a:t> (pi) is the symbol used to represent the </a:t>
            </a:r>
            <a:r>
              <a:rPr lang="en-US" altLang="en-US" i="1"/>
              <a:t>project</a:t>
            </a:r>
            <a:r>
              <a:rPr lang="en-US" altLang="en-US"/>
              <a:t> operation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&lt;attribute list&gt; is the desired list of attributes from relation R.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The project operation </a:t>
            </a:r>
            <a:r>
              <a:rPr lang="en-US" altLang="en-US" i="1"/>
              <a:t>removes any duplicate tuples</a:t>
            </a:r>
            <a:endParaRPr lang="en-US" altLang="en-US"/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This is because the result of the </a:t>
            </a:r>
            <a:r>
              <a:rPr lang="en-US" altLang="en-US" i="1"/>
              <a:t>project</a:t>
            </a:r>
            <a:r>
              <a:rPr lang="en-US" altLang="en-US"/>
              <a:t> operation must be a </a:t>
            </a:r>
            <a:r>
              <a:rPr lang="en-US" altLang="en-US" i="1"/>
              <a:t>set of tuples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/>
              <a:t>Mathematical sets </a:t>
            </a:r>
            <a:r>
              <a:rPr lang="en-US" altLang="en-US" i="1"/>
              <a:t>do not allow</a:t>
            </a:r>
            <a:r>
              <a:rPr lang="en-US" altLang="en-US"/>
              <a:t> duplicate elements.</a:t>
            </a:r>
          </a:p>
          <a:p>
            <a:pPr eaLnBrk="1" hangingPunct="1">
              <a:lnSpc>
                <a:spcPct val="80000"/>
              </a:lnSpc>
            </a:pPr>
            <a:endParaRPr lang="en-US" altLang="en-US"/>
          </a:p>
          <a:p>
            <a:pPr eaLnBrk="1" hangingPunct="1">
              <a:lnSpc>
                <a:spcPct val="80000"/>
              </a:lnSpc>
            </a:pPr>
            <a:endParaRPr lang="en-US" altLang="en-US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C35FB190-9095-4D77-ADC8-28370D247E33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672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Unary Relational Operations: PROJECT (contd.)</a:t>
            </a:r>
          </a:p>
        </p:txBody>
      </p:sp>
      <p:sp>
        <p:nvSpPr>
          <p:cNvPr id="104867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PROJECT Operation Properties</a:t>
            </a:r>
          </a:p>
          <a:p>
            <a:pPr lvl="1" eaLnBrk="1" hangingPunct="1"/>
            <a:r>
              <a:rPr lang="en-US" altLang="en-US"/>
              <a:t>The number of tuples in the result of projection </a:t>
            </a:r>
            <a:r>
              <a:rPr lang="en-US" altLang="en-US">
                <a:latin typeface="Symbol" panose="05050102010706020507" pitchFamily="18" charset="2"/>
              </a:rPr>
              <a:t></a:t>
            </a:r>
            <a:r>
              <a:rPr lang="en-US" altLang="en-US" baseline="-25000"/>
              <a:t>&lt;list&gt;</a:t>
            </a:r>
            <a:r>
              <a:rPr lang="en-US" altLang="en-US"/>
              <a:t>(R) is always less or equal to the number of tuples in R</a:t>
            </a:r>
          </a:p>
          <a:p>
            <a:pPr lvl="2" eaLnBrk="1" hangingPunct="1"/>
            <a:r>
              <a:rPr lang="en-US" altLang="en-US"/>
              <a:t>If the list of attributes includes a </a:t>
            </a:r>
            <a:r>
              <a:rPr lang="en-US" altLang="en-US" i="1"/>
              <a:t>key</a:t>
            </a:r>
            <a:r>
              <a:rPr lang="en-US" altLang="en-US"/>
              <a:t> of R, then the number of tuples in the result of PROJECT is </a:t>
            </a:r>
            <a:r>
              <a:rPr lang="en-US" altLang="en-US" i="1"/>
              <a:t>equal</a:t>
            </a:r>
            <a:r>
              <a:rPr lang="en-US" altLang="en-US"/>
              <a:t> to the number of tuples in R</a:t>
            </a:r>
          </a:p>
          <a:p>
            <a:pPr lvl="1" eaLnBrk="1" hangingPunct="1"/>
            <a:r>
              <a:rPr lang="en-US" altLang="en-US"/>
              <a:t>PROJECT is </a:t>
            </a:r>
            <a:r>
              <a:rPr lang="en-US" altLang="en-US" i="1"/>
              <a:t>not</a:t>
            </a:r>
            <a:r>
              <a:rPr lang="en-US" altLang="en-US"/>
              <a:t> commutative</a:t>
            </a:r>
          </a:p>
          <a:p>
            <a:pPr lvl="2" eaLnBrk="1" hangingPunct="1"/>
            <a:r>
              <a:rPr lang="en-US" altLang="en-US">
                <a:latin typeface="Symbol" panose="05050102010706020507" pitchFamily="18" charset="2"/>
              </a:rPr>
              <a:t></a:t>
            </a:r>
            <a:r>
              <a:rPr lang="en-US" altLang="en-US"/>
              <a:t> </a:t>
            </a:r>
            <a:r>
              <a:rPr lang="en-US" altLang="en-US" baseline="-25000"/>
              <a:t>&lt;list1&gt;</a:t>
            </a:r>
            <a:r>
              <a:rPr lang="en-US" altLang="en-US"/>
              <a:t> (</a:t>
            </a:r>
            <a:r>
              <a:rPr lang="en-US" altLang="en-US">
                <a:latin typeface="Symbol" panose="05050102010706020507" pitchFamily="18" charset="2"/>
              </a:rPr>
              <a:t></a:t>
            </a:r>
            <a:r>
              <a:rPr lang="en-US" altLang="en-US"/>
              <a:t> </a:t>
            </a:r>
            <a:r>
              <a:rPr lang="en-US" altLang="en-US" baseline="-25000"/>
              <a:t>&lt;list2&gt;</a:t>
            </a:r>
            <a:r>
              <a:rPr lang="en-US" altLang="en-US"/>
              <a:t> (R) ) = </a:t>
            </a:r>
            <a:r>
              <a:rPr lang="en-US" altLang="en-US">
                <a:latin typeface="Symbol" panose="05050102010706020507" pitchFamily="18" charset="2"/>
              </a:rPr>
              <a:t></a:t>
            </a:r>
            <a:r>
              <a:rPr lang="en-US" altLang="en-US"/>
              <a:t> </a:t>
            </a:r>
            <a:r>
              <a:rPr lang="en-US" altLang="en-US" baseline="-25000"/>
              <a:t>&lt;list1&gt;</a:t>
            </a:r>
            <a:r>
              <a:rPr lang="en-US" altLang="en-US"/>
              <a:t> (R) as long as &lt;list2&gt; contains the attributes in &lt;list1&gt; 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E2DD51F6-2931-4CAD-9892-D970BC50E26B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678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Examples of applying SELECT and PROJECT operations</a:t>
            </a:r>
          </a:p>
        </p:txBody>
      </p:sp>
      <p:pic>
        <p:nvPicPr>
          <p:cNvPr id="2097155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1504950"/>
            <a:ext cx="6527800" cy="48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F502A042-D7BA-44E4-8E0E-E8BD6694C24E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68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Relational Algebra Expressions</a:t>
            </a:r>
          </a:p>
        </p:txBody>
      </p:sp>
      <p:sp>
        <p:nvSpPr>
          <p:cNvPr id="1048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 may want to apply several relational algebra operations one after the other</a:t>
            </a:r>
          </a:p>
          <a:p>
            <a:pPr lvl="1" eaLnBrk="1" hangingPunct="1"/>
            <a:r>
              <a:rPr lang="en-US" altLang="en-US"/>
              <a:t>Either we can write the operations as a single </a:t>
            </a:r>
            <a:r>
              <a:rPr lang="en-US" altLang="en-US" b="1"/>
              <a:t>relational algebra expression</a:t>
            </a:r>
            <a:r>
              <a:rPr lang="en-US" altLang="en-US"/>
              <a:t> by nesting the operations, or</a:t>
            </a:r>
          </a:p>
          <a:p>
            <a:pPr lvl="1" eaLnBrk="1" hangingPunct="1"/>
            <a:r>
              <a:rPr lang="en-US" altLang="en-US"/>
              <a:t>We can apply one operation at a time and create </a:t>
            </a:r>
            <a:r>
              <a:rPr lang="en-US" altLang="en-US" b="1"/>
              <a:t>intermediate result relations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 sz="3000"/>
              <a:t>In the latter case, we must give names to the relations that hold the intermediate results. </a:t>
            </a:r>
            <a:r>
              <a:rPr lang="en-US" altLang="en-US" sz="3100"/>
              <a:t>	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F6AAEE81-9AAD-4B11-9BC2-31EA82374146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68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Single expression versus sequence of relational operations (Example)</a:t>
            </a:r>
          </a:p>
        </p:txBody>
      </p:sp>
      <p:sp>
        <p:nvSpPr>
          <p:cNvPr id="10486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To retrieve the first name, last name, and salary of all employees who work in department number 5, we must apply a select and a project operation</a:t>
            </a:r>
          </a:p>
          <a:p>
            <a:pPr eaLnBrk="1" hangingPunct="1"/>
            <a:r>
              <a:rPr lang="en-US" altLang="en-US" sz="2400"/>
              <a:t>We can write a </a:t>
            </a:r>
            <a:r>
              <a:rPr lang="en-US" altLang="en-US" sz="2400" i="1"/>
              <a:t>single relational algebra expression</a:t>
            </a:r>
            <a:r>
              <a:rPr lang="en-US" altLang="en-US" sz="2400"/>
              <a:t> as follows: </a:t>
            </a:r>
          </a:p>
          <a:p>
            <a:pPr lvl="1" eaLnBrk="1" hangingPunct="1"/>
            <a:r>
              <a:rPr lang="en-US" altLang="en-US" sz="2400" b="1">
                <a:latin typeface="Symbol" panose="05050102010706020507" pitchFamily="18" charset="2"/>
              </a:rPr>
              <a:t></a:t>
            </a:r>
            <a:r>
              <a:rPr lang="en-US" altLang="en-US" sz="2400" baseline="-25000"/>
              <a:t>FNAME, LNAME, SALARY</a:t>
            </a:r>
            <a:r>
              <a:rPr lang="en-US" altLang="en-US" sz="2400"/>
              <a:t>(</a:t>
            </a:r>
            <a:r>
              <a:rPr lang="en-US" altLang="en-US" sz="2400" b="1">
                <a:latin typeface="Symbol" panose="05050102010706020507" pitchFamily="18" charset="2"/>
              </a:rPr>
              <a:t></a:t>
            </a:r>
            <a:r>
              <a:rPr lang="en-US" altLang="en-US" sz="2400"/>
              <a:t> </a:t>
            </a:r>
            <a:r>
              <a:rPr lang="en-US" altLang="en-US" sz="2400" baseline="-25000"/>
              <a:t>DNO=5</a:t>
            </a:r>
            <a:r>
              <a:rPr lang="en-US" altLang="en-US" sz="2400"/>
              <a:t>(EMPLOYEE))</a:t>
            </a:r>
          </a:p>
          <a:p>
            <a:pPr eaLnBrk="1" hangingPunct="1"/>
            <a:r>
              <a:rPr lang="en-US" altLang="en-US" sz="2400"/>
              <a:t>OR We can explicitly show the </a:t>
            </a:r>
            <a:r>
              <a:rPr lang="en-US" altLang="en-US" sz="2400" i="1"/>
              <a:t>sequence of operations</a:t>
            </a:r>
            <a:r>
              <a:rPr lang="en-US" altLang="en-US" sz="2400"/>
              <a:t>, giving a name to each intermediate relation:</a:t>
            </a:r>
          </a:p>
          <a:p>
            <a:pPr lvl="1" eaLnBrk="1" hangingPunct="1"/>
            <a:r>
              <a:rPr lang="en-US" altLang="en-US" sz="2400"/>
              <a:t>DEP5_EMPS </a:t>
            </a:r>
            <a:r>
              <a:rPr lang="en-US" altLang="en-US" sz="2400">
                <a:sym typeface="Symbol" panose="05050102010706020507" pitchFamily="18" charset="2"/>
              </a:rPr>
              <a:t> </a:t>
            </a:r>
            <a:r>
              <a:rPr lang="en-US" altLang="en-US" sz="2400" b="1">
                <a:latin typeface="Symbol" panose="05050102010706020507" pitchFamily="18" charset="2"/>
              </a:rPr>
              <a:t></a:t>
            </a:r>
            <a:r>
              <a:rPr lang="en-US" altLang="en-US" sz="2400"/>
              <a:t> </a:t>
            </a:r>
            <a:r>
              <a:rPr lang="en-US" altLang="en-US" sz="2400" baseline="-25000"/>
              <a:t>DNO=5</a:t>
            </a:r>
            <a:r>
              <a:rPr lang="en-US" altLang="en-US" sz="2400"/>
              <a:t>(EMPLOYEE)</a:t>
            </a:r>
          </a:p>
          <a:p>
            <a:pPr lvl="1" eaLnBrk="1" hangingPunct="1"/>
            <a:r>
              <a:rPr lang="en-US" altLang="en-US" sz="2400"/>
              <a:t>RESULT </a:t>
            </a:r>
            <a:r>
              <a:rPr lang="en-US" altLang="en-US" sz="2400">
                <a:sym typeface="Symbol" panose="05050102010706020507" pitchFamily="18" charset="2"/>
              </a:rPr>
              <a:t> </a:t>
            </a:r>
            <a:r>
              <a:rPr lang="en-US" altLang="en-US" sz="2400" b="1">
                <a:latin typeface="Symbol" panose="05050102010706020507" pitchFamily="18" charset="2"/>
              </a:rPr>
              <a:t></a:t>
            </a:r>
            <a:r>
              <a:rPr lang="en-US" altLang="en-US" sz="2400"/>
              <a:t> </a:t>
            </a:r>
            <a:r>
              <a:rPr lang="en-US" altLang="en-US" sz="2400" baseline="-25000"/>
              <a:t>FNAME, LNAME, SALARY</a:t>
            </a:r>
            <a:r>
              <a:rPr lang="en-US" altLang="en-US" sz="2400"/>
              <a:t> (DEP5_EMPS)	</a:t>
            </a:r>
          </a:p>
        </p:txBody>
      </p:sp>
      <p:sp>
        <p:nvSpPr>
          <p:cNvPr id="1048691" name="Rectangle 4"/>
          <p:cNvSpPr>
            <a:spLocks noChangeArrowheads="1"/>
          </p:cNvSpPr>
          <p:nvPr/>
        </p:nvSpPr>
        <p:spPr bwMode="auto">
          <a:xfrm>
            <a:off x="990600" y="4914900"/>
            <a:ext cx="2057400" cy="381000"/>
          </a:xfrm>
          <a:prstGeom prst="rect">
            <a:avLst/>
          </a:prstGeom>
          <a:solidFill>
            <a:srgbClr val="FFFF00">
              <a:alpha val="25098"/>
            </a:srgbClr>
          </a:solidFill>
          <a:ln w="9525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1048692" name="Rectangle 5"/>
          <p:cNvSpPr>
            <a:spLocks noChangeArrowheads="1"/>
          </p:cNvSpPr>
          <p:nvPr/>
        </p:nvSpPr>
        <p:spPr bwMode="auto">
          <a:xfrm>
            <a:off x="5592763" y="5295900"/>
            <a:ext cx="1951037" cy="419100"/>
          </a:xfrm>
          <a:prstGeom prst="rect">
            <a:avLst/>
          </a:prstGeom>
          <a:solidFill>
            <a:srgbClr val="FFFF00">
              <a:alpha val="25098"/>
            </a:srgbClr>
          </a:solidFill>
          <a:ln w="9525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32C8B97B-E6D2-4176-8D09-6C219C1EA62F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69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Unary Relational Operations: RENAME</a:t>
            </a:r>
          </a:p>
        </p:txBody>
      </p:sp>
      <p:sp>
        <p:nvSpPr>
          <p:cNvPr id="10486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RENAME operator is denoted by </a:t>
            </a:r>
            <a:r>
              <a:rPr lang="en-US" altLang="en-US">
                <a:sym typeface="Symbol" panose="05050102010706020507" pitchFamily="18" charset="2"/>
              </a:rPr>
              <a:t> (rho)</a:t>
            </a:r>
          </a:p>
          <a:p>
            <a:pPr eaLnBrk="1" hangingPunct="1"/>
            <a:r>
              <a:rPr lang="en-US" altLang="en-US"/>
              <a:t>In some cases, we may want to </a:t>
            </a:r>
            <a:r>
              <a:rPr lang="en-US" altLang="en-US" i="1"/>
              <a:t>rename </a:t>
            </a:r>
            <a:r>
              <a:rPr lang="en-US" altLang="en-US"/>
              <a:t>the attributes of a relation or the relation name or both</a:t>
            </a:r>
          </a:p>
          <a:p>
            <a:pPr lvl="1" eaLnBrk="1" hangingPunct="1"/>
            <a:r>
              <a:rPr lang="en-US" altLang="en-US" sz="2800"/>
              <a:t>Useful when a query requires multiple operations</a:t>
            </a:r>
          </a:p>
          <a:p>
            <a:pPr lvl="1" eaLnBrk="1" hangingPunct="1"/>
            <a:r>
              <a:rPr lang="en-US" altLang="en-US" sz="2800"/>
              <a:t>Necessary in some cases (see JOIN operation later)</a:t>
            </a:r>
            <a:endParaRPr lang="en-US" altLang="en-US" sz="2800" i="1"/>
          </a:p>
          <a:p>
            <a:pPr eaLnBrk="1" hangingPunct="1"/>
            <a:endParaRPr lang="en-US" altLang="en-US" sz="2900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DA9D5C42-AE0C-4745-A9A8-437D41AB5335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703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Unary Relational Operations: RENAME (continued)</a:t>
            </a:r>
          </a:p>
        </p:txBody>
      </p:sp>
      <p:sp>
        <p:nvSpPr>
          <p:cNvPr id="104870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general RENAME operation </a:t>
            </a:r>
            <a:r>
              <a:rPr lang="en-US" altLang="en-US">
                <a:sym typeface="Symbol" panose="05050102010706020507" pitchFamily="18" charset="2"/>
              </a:rPr>
              <a:t> </a:t>
            </a:r>
            <a:r>
              <a:rPr lang="en-US" altLang="en-US"/>
              <a:t>can be expressed by any of the following forms: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</a:t>
            </a:r>
            <a:r>
              <a:rPr lang="en-US" altLang="en-US" baseline="-25000">
                <a:sym typeface="Symbol" panose="05050102010706020507" pitchFamily="18" charset="2"/>
              </a:rPr>
              <a:t>S (B1, B2, …, Bn )</a:t>
            </a:r>
            <a:r>
              <a:rPr lang="en-US" altLang="en-US">
                <a:sym typeface="Symbol" panose="05050102010706020507" pitchFamily="18" charset="2"/>
              </a:rPr>
              <a:t>(R) changes both:</a:t>
            </a:r>
          </a:p>
          <a:p>
            <a:pPr lvl="2" eaLnBrk="1" hangingPunct="1"/>
            <a:r>
              <a:rPr lang="en-US" altLang="en-US">
                <a:sym typeface="Symbol" panose="05050102010706020507" pitchFamily="18" charset="2"/>
              </a:rPr>
              <a:t>the relation name to S, </a:t>
            </a:r>
            <a:r>
              <a:rPr lang="en-US" altLang="en-US" i="1">
                <a:sym typeface="Symbol" panose="05050102010706020507" pitchFamily="18" charset="2"/>
              </a:rPr>
              <a:t>and </a:t>
            </a:r>
          </a:p>
          <a:p>
            <a:pPr lvl="2" eaLnBrk="1" hangingPunct="1"/>
            <a:r>
              <a:rPr lang="en-US" altLang="en-US">
                <a:sym typeface="Symbol" panose="05050102010706020507" pitchFamily="18" charset="2"/>
              </a:rPr>
              <a:t>the column (attribute) names to B1, B1, …..Bn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</a:t>
            </a:r>
            <a:r>
              <a:rPr lang="en-US" altLang="en-US" baseline="-25000">
                <a:sym typeface="Symbol" panose="05050102010706020507" pitchFamily="18" charset="2"/>
              </a:rPr>
              <a:t>S</a:t>
            </a:r>
            <a:r>
              <a:rPr lang="en-US" altLang="en-US">
                <a:sym typeface="Symbol" panose="05050102010706020507" pitchFamily="18" charset="2"/>
              </a:rPr>
              <a:t>(R) changes:</a:t>
            </a:r>
          </a:p>
          <a:p>
            <a:pPr lvl="2" eaLnBrk="1" hangingPunct="1"/>
            <a:r>
              <a:rPr lang="en-US" altLang="en-US">
                <a:sym typeface="Symbol" panose="05050102010706020507" pitchFamily="18" charset="2"/>
              </a:rPr>
              <a:t>the </a:t>
            </a:r>
            <a:r>
              <a:rPr lang="en-US" altLang="en-US" i="1">
                <a:sym typeface="Symbol" panose="05050102010706020507" pitchFamily="18" charset="2"/>
              </a:rPr>
              <a:t>relation name</a:t>
            </a:r>
            <a:r>
              <a:rPr lang="en-US" altLang="en-US">
                <a:sym typeface="Symbol" panose="05050102010706020507" pitchFamily="18" charset="2"/>
              </a:rPr>
              <a:t> only to S</a:t>
            </a:r>
            <a:endParaRPr lang="en-US" altLang="en-US"/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</a:t>
            </a:r>
            <a:r>
              <a:rPr lang="en-US" altLang="en-US" baseline="-25000">
                <a:sym typeface="Symbol" panose="05050102010706020507" pitchFamily="18" charset="2"/>
              </a:rPr>
              <a:t>(B1, B2, …, Bn )</a:t>
            </a:r>
            <a:r>
              <a:rPr lang="en-US" altLang="en-US">
                <a:sym typeface="Symbol" panose="05050102010706020507" pitchFamily="18" charset="2"/>
              </a:rPr>
              <a:t>(R) changes:</a:t>
            </a:r>
          </a:p>
          <a:p>
            <a:pPr lvl="2" eaLnBrk="1" hangingPunct="1"/>
            <a:r>
              <a:rPr lang="en-US" altLang="en-US">
                <a:sym typeface="Symbol" panose="05050102010706020507" pitchFamily="18" charset="2"/>
              </a:rPr>
              <a:t>the </a:t>
            </a:r>
            <a:r>
              <a:rPr lang="en-US" altLang="en-US" i="1">
                <a:sym typeface="Symbol" panose="05050102010706020507" pitchFamily="18" charset="2"/>
              </a:rPr>
              <a:t>column (attribute) names</a:t>
            </a:r>
            <a:r>
              <a:rPr lang="en-US" altLang="en-US">
                <a:sym typeface="Symbol" panose="05050102010706020507" pitchFamily="18" charset="2"/>
              </a:rPr>
              <a:t> only to B1, B1, …..Bn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9A110BC2-D616-42FB-900F-812345C545BC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70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Unary Relational Operations: RENAME (continued)</a:t>
            </a:r>
          </a:p>
        </p:txBody>
      </p:sp>
      <p:sp>
        <p:nvSpPr>
          <p:cNvPr id="10487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cs typeface="+mn-cs"/>
              </a:rPr>
              <a:t>For convenience, we also use a </a:t>
            </a:r>
            <a:r>
              <a:rPr lang="en-US" altLang="en-US" i="1" dirty="0">
                <a:cs typeface="+mn-cs"/>
              </a:rPr>
              <a:t>shorthand</a:t>
            </a:r>
            <a:r>
              <a:rPr lang="en-US" altLang="en-US" dirty="0">
                <a:cs typeface="+mn-cs"/>
              </a:rPr>
              <a:t> for renaming attributes in an intermediate relation:</a:t>
            </a:r>
          </a:p>
          <a:p>
            <a:pPr lvl="1" eaLnBrk="1" hangingPunct="1"/>
            <a:r>
              <a:rPr lang="en-US" altLang="en-US" dirty="0"/>
              <a:t>If we write:</a:t>
            </a:r>
          </a:p>
          <a:p>
            <a:pPr lvl="2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500" dirty="0"/>
              <a:t>RESULT </a:t>
            </a:r>
            <a:r>
              <a:rPr lang="en-US" altLang="en-US" sz="2500" dirty="0">
                <a:sym typeface="Symbol" panose="05050102010706020507" pitchFamily="18" charset="2"/>
              </a:rPr>
              <a:t> </a:t>
            </a:r>
            <a:r>
              <a:rPr lang="en-US" altLang="en-US" sz="2500" b="1" dirty="0">
                <a:latin typeface="Symbol" panose="05050102010706020507" pitchFamily="18" charset="2"/>
              </a:rPr>
              <a:t></a:t>
            </a:r>
            <a:r>
              <a:rPr lang="en-US" altLang="en-US" sz="2500" dirty="0"/>
              <a:t> </a:t>
            </a:r>
            <a:r>
              <a:rPr lang="en-US" altLang="en-US" sz="2500" baseline="-25000" dirty="0"/>
              <a:t>FNAME, LNAME, SALARY</a:t>
            </a:r>
            <a:r>
              <a:rPr lang="en-US" altLang="en-US" sz="2500" dirty="0"/>
              <a:t> (DEP5_EMPS)</a:t>
            </a:r>
          </a:p>
          <a:p>
            <a:pPr lvl="2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500" dirty="0"/>
              <a:t>RESULT will have the </a:t>
            </a:r>
            <a:r>
              <a:rPr lang="en-US" altLang="en-US" sz="2500" i="1" dirty="0"/>
              <a:t>same attribute names</a:t>
            </a:r>
            <a:r>
              <a:rPr lang="en-US" altLang="en-US" sz="2500" dirty="0"/>
              <a:t> as DEP5_EMPS (same attributes as EMPLOYEE)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800" dirty="0"/>
              <a:t>If we write:</a:t>
            </a:r>
          </a:p>
          <a:p>
            <a:pPr lvl="2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500" dirty="0"/>
              <a:t>RESULT (F, M, L, S, B, A, SX, SAL, SU, DNO)</a:t>
            </a:r>
            <a:r>
              <a:rPr lang="en-US" altLang="en-US" sz="2500" dirty="0">
                <a:sym typeface="Symbol" panose="05050102010706020507" pitchFamily="18" charset="2"/>
              </a:rPr>
              <a:t> 	</a:t>
            </a:r>
            <a:r>
              <a:rPr lang="en-US" altLang="en-US" sz="2500" b="1" dirty="0">
                <a:latin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 </a:t>
            </a:r>
            <a:r>
              <a:rPr lang="en-US" altLang="en-US" baseline="-25000" dirty="0">
                <a:sym typeface="Symbol" panose="05050102010706020507" pitchFamily="18" charset="2"/>
              </a:rPr>
              <a:t>RESULT (F.M.L.S.B,A,SX,SAL,SU, DNO)</a:t>
            </a:r>
            <a:r>
              <a:rPr lang="en-US" altLang="en-US" sz="2500" dirty="0"/>
              <a:t>(DEP5_EMPS)</a:t>
            </a:r>
          </a:p>
          <a:p>
            <a:pPr lvl="2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500" dirty="0"/>
              <a:t>The 10 attributes of DEP5_EMPS are </a:t>
            </a:r>
            <a:r>
              <a:rPr lang="en-US" altLang="en-US" sz="2500" i="1" dirty="0"/>
              <a:t>renamed</a:t>
            </a:r>
            <a:r>
              <a:rPr lang="en-US" altLang="en-US" sz="2500" dirty="0"/>
              <a:t> to F, M, L, S, B, A, SX, SAL, SU, DNO, respectively</a:t>
            </a:r>
          </a:p>
          <a:p>
            <a:pPr marL="514350" lvl="1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3000" dirty="0"/>
              <a:t>Note: </a:t>
            </a:r>
            <a:r>
              <a:rPr lang="en-US" altLang="en-US" sz="2500" dirty="0">
                <a:solidFill>
                  <a:schemeClr val="tx2"/>
                </a:solidFill>
              </a:rPr>
              <a:t>the </a:t>
            </a:r>
            <a:r>
              <a:rPr lang="en-US" altLang="en-US" sz="2500" dirty="0">
                <a:solidFill>
                  <a:schemeClr val="tx2"/>
                </a:solidFill>
                <a:sym typeface="Symbol" panose="05050102010706020507" pitchFamily="18" charset="2"/>
              </a:rPr>
              <a:t> symbol is an assignment operator</a:t>
            </a:r>
            <a:endParaRPr lang="en-US" altLang="en-US" sz="25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8EC8927D-0E85-40F2-8D31-46C1DBA44BBA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715" name="Rectangle 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Example of applying multiple operations and RENAME</a:t>
            </a:r>
          </a:p>
        </p:txBody>
      </p:sp>
      <p:sp>
        <p:nvSpPr>
          <p:cNvPr id="1048716" name="Rectangle 3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pic>
        <p:nvPicPr>
          <p:cNvPr id="2097156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6250" y="1484313"/>
            <a:ext cx="6861175" cy="5145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61C7AF07-D060-4EF7-9D66-FE5B08BF159F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721" name="Rectangle 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Relational Algebra Operations from</a:t>
            </a:r>
            <a:br>
              <a:rPr lang="en-US" altLang="en-US" sz="3200"/>
            </a:br>
            <a:r>
              <a:rPr lang="en-US" altLang="en-US" sz="3200"/>
              <a:t>Set Theory: UNION </a:t>
            </a:r>
          </a:p>
        </p:txBody>
      </p:sp>
      <p:sp>
        <p:nvSpPr>
          <p:cNvPr id="104872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UNION Operation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Binary operation, denoted by </a:t>
            </a:r>
            <a:r>
              <a:rPr lang="en-US" altLang="en-US">
                <a:latin typeface="Symbol" panose="05050102010706020507" pitchFamily="18" charset="2"/>
              </a:rPr>
              <a:t></a:t>
            </a:r>
            <a:r>
              <a:rPr lang="en-US" altLang="en-US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The result of R </a:t>
            </a:r>
            <a:r>
              <a:rPr lang="en-US" altLang="en-US">
                <a:latin typeface="Symbol" panose="05050102010706020507" pitchFamily="18" charset="2"/>
              </a:rPr>
              <a:t></a:t>
            </a:r>
            <a:r>
              <a:rPr lang="en-US" altLang="en-US"/>
              <a:t> S, is a relation that includes all tuples that are either in R or in S or in both R and 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Duplicate tuples are eliminated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500"/>
              <a:t>The two operand relations R and S must be “type compatible” (or UNION compatible)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300"/>
              <a:t>R and S must have same number of attributes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300"/>
              <a:t>Each pair of corresponding attributes must be type compatible (have same or compatible domains)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E0C666F2-9977-483D-9AC7-F2EEF934F02B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72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Relational Algebra Operations from</a:t>
            </a:r>
            <a:br>
              <a:rPr lang="en-US" altLang="en-US" sz="3200"/>
            </a:br>
            <a:r>
              <a:rPr lang="en-US" altLang="en-US" sz="3200"/>
              <a:t>Set Theory: UNION </a:t>
            </a:r>
          </a:p>
        </p:txBody>
      </p:sp>
      <p:sp>
        <p:nvSpPr>
          <p:cNvPr id="10487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Example: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/>
              <a:t>To retrieve the social security numbers of all employees who either </a:t>
            </a:r>
            <a:r>
              <a:rPr lang="en-US" altLang="en-US" sz="2100" i="1"/>
              <a:t>work in department 5</a:t>
            </a:r>
            <a:r>
              <a:rPr lang="en-US" altLang="en-US" sz="2100"/>
              <a:t> (RESULT1 below) or </a:t>
            </a:r>
            <a:r>
              <a:rPr lang="en-US" altLang="en-US" sz="2100" i="1"/>
              <a:t>directly supervise an employee who works in department 5</a:t>
            </a:r>
            <a:r>
              <a:rPr lang="en-US" altLang="en-US" sz="2100"/>
              <a:t> (RESULT2 below)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/>
              <a:t>We can use the UNION operation as follows: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DEP5_EMPS </a:t>
            </a:r>
            <a:r>
              <a:rPr lang="en-US" altLang="en-US" sz="2400">
                <a:sym typeface="Symbol" panose="05050102010706020507" pitchFamily="18" charset="2"/>
              </a:rPr>
              <a:t> </a:t>
            </a:r>
            <a:r>
              <a:rPr lang="en-US" altLang="en-US" sz="2400">
                <a:latin typeface="Symbol" panose="05050102010706020507" pitchFamily="18" charset="2"/>
              </a:rPr>
              <a:t></a:t>
            </a:r>
            <a:r>
              <a:rPr lang="en-US" altLang="en-US" sz="2400" baseline="-25000"/>
              <a:t>DNO=5</a:t>
            </a:r>
            <a:r>
              <a:rPr lang="en-US" altLang="en-US" sz="2400"/>
              <a:t> (EMPLOYEE)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RESULT1 </a:t>
            </a:r>
            <a:r>
              <a:rPr lang="en-US" altLang="en-US" sz="2400">
                <a:sym typeface="Symbol" panose="05050102010706020507" pitchFamily="18" charset="2"/>
              </a:rPr>
              <a:t> </a:t>
            </a:r>
            <a:r>
              <a:rPr lang="en-US" altLang="en-US" sz="2400">
                <a:latin typeface="Symbol" panose="05050102010706020507" pitchFamily="18" charset="2"/>
              </a:rPr>
              <a:t></a:t>
            </a:r>
            <a:r>
              <a:rPr lang="en-US" altLang="en-US" sz="2400"/>
              <a:t> </a:t>
            </a:r>
            <a:r>
              <a:rPr lang="en-US" altLang="en-US" sz="2400" baseline="-25000"/>
              <a:t>SSN</a:t>
            </a:r>
            <a:r>
              <a:rPr lang="en-US" altLang="en-US" sz="2400"/>
              <a:t>(DEP5_EMPS)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RESULT2(SSN) </a:t>
            </a:r>
            <a:r>
              <a:rPr lang="en-US" altLang="en-US" sz="2400">
                <a:sym typeface="Symbol" panose="05050102010706020507" pitchFamily="18" charset="2"/>
              </a:rPr>
              <a:t> </a:t>
            </a:r>
            <a:r>
              <a:rPr lang="en-US" altLang="en-US" sz="2400">
                <a:latin typeface="Symbol" panose="05050102010706020507" pitchFamily="18" charset="2"/>
              </a:rPr>
              <a:t></a:t>
            </a:r>
            <a:r>
              <a:rPr lang="en-US" altLang="en-US" sz="2400" baseline="-25000"/>
              <a:t>SUPERSSN</a:t>
            </a:r>
            <a:r>
              <a:rPr lang="en-US" altLang="en-US" sz="2400"/>
              <a:t>(DEP5_EMPS)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RESULT </a:t>
            </a:r>
            <a:r>
              <a:rPr lang="en-US" altLang="en-US" sz="2400">
                <a:sym typeface="Symbol" panose="05050102010706020507" pitchFamily="18" charset="2"/>
              </a:rPr>
              <a:t> RESULT</a:t>
            </a:r>
            <a:r>
              <a:rPr lang="en-US" altLang="en-US" sz="2400"/>
              <a:t>1 </a:t>
            </a:r>
            <a:r>
              <a:rPr lang="en-US" altLang="en-US" sz="2400">
                <a:latin typeface="Symbol" panose="05050102010706020507" pitchFamily="18" charset="2"/>
              </a:rPr>
              <a:t></a:t>
            </a:r>
            <a:r>
              <a:rPr lang="en-US" altLang="en-US" sz="2400"/>
              <a:t> RESULT2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/>
              <a:t>The union operation produces the tuples that are in either RESULT1 or RESULT2 or both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Title 1"/>
          <p:cNvSpPr>
            <a:spLocks noGrp="1"/>
          </p:cNvSpPr>
          <p:nvPr>
            <p:ph type="title"/>
          </p:nvPr>
        </p:nvSpPr>
        <p:spPr>
          <a:xfrm>
            <a:off x="228600" y="303213"/>
            <a:ext cx="7796213" cy="1144587"/>
          </a:xfrm>
        </p:spPr>
        <p:txBody>
          <a:bodyPr/>
          <a:lstStyle/>
          <a:p>
            <a:r>
              <a:rPr lang="en-US" altLang="en-US" sz="2800" b="1">
                <a:latin typeface="Verdana" panose="020B0604030504040204" pitchFamily="34" charset="0"/>
              </a:rPr>
              <a:t>Figure 8.3</a:t>
            </a:r>
            <a:r>
              <a:rPr lang="en-US" altLang="en-US" sz="2800">
                <a:latin typeface="Verdana" panose="020B0604030504040204" pitchFamily="34" charset="0"/>
              </a:rPr>
              <a:t>   Result of the UNION operation RESULT ← RESULT1 ∪ RESULT2.</a:t>
            </a:r>
          </a:p>
        </p:txBody>
      </p:sp>
      <p:pic>
        <p:nvPicPr>
          <p:cNvPr id="2097157" name="Picture 2" descr="fig08_0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89125"/>
            <a:ext cx="8229600" cy="338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3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8- 25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 advTm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BDA64FDD-B541-4A21-BF70-DBFC5969656E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735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Relational Algebra Operations from</a:t>
            </a:r>
            <a:br>
              <a:rPr lang="en-US" altLang="en-US" sz="3200"/>
            </a:br>
            <a:r>
              <a:rPr lang="en-US" altLang="en-US" sz="3200"/>
              <a:t>Set Theory </a:t>
            </a:r>
          </a:p>
        </p:txBody>
      </p:sp>
      <p:sp>
        <p:nvSpPr>
          <p:cNvPr id="104873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Type Compatibility of operands is required for the binary set operation UNION </a:t>
            </a:r>
            <a:r>
              <a:rPr lang="en-US" altLang="en-US" sz="2400">
                <a:latin typeface="Symbol" panose="05050102010706020507" pitchFamily="18" charset="2"/>
              </a:rPr>
              <a:t></a:t>
            </a:r>
            <a:r>
              <a:rPr lang="en-US" altLang="en-US" sz="2400"/>
              <a:t>, (also for INTERSECTION </a:t>
            </a:r>
            <a:r>
              <a:rPr lang="en-US" altLang="en-US" sz="2400">
                <a:latin typeface="Symbol" panose="05050102010706020507" pitchFamily="18" charset="2"/>
              </a:rPr>
              <a:t></a:t>
            </a:r>
            <a:r>
              <a:rPr lang="en-US" altLang="en-US" sz="2400"/>
              <a:t>, and SET DIFFERENCE –, see next slides)</a:t>
            </a:r>
          </a:p>
          <a:p>
            <a:pPr eaLnBrk="1" hangingPunct="1"/>
            <a:r>
              <a:rPr lang="en-US" altLang="en-US" sz="2400"/>
              <a:t>R1(A1, A2, ..., An) and R2(B1, B2, ..., Bn) are type compatible if:</a:t>
            </a:r>
          </a:p>
          <a:p>
            <a:pPr lvl="1" eaLnBrk="1" hangingPunct="1"/>
            <a:r>
              <a:rPr lang="en-US" altLang="en-US" sz="2200"/>
              <a:t>they have the same number of attributes, and</a:t>
            </a:r>
          </a:p>
          <a:p>
            <a:pPr lvl="1" eaLnBrk="1" hangingPunct="1"/>
            <a:r>
              <a:rPr lang="en-US" altLang="en-US" sz="2200"/>
              <a:t>the domains of corresponding attributes are type compatible (i.e. dom(Ai)=dom(Bi) for i=1, 2, ..., n). </a:t>
            </a:r>
          </a:p>
          <a:p>
            <a:pPr eaLnBrk="1" hangingPunct="1"/>
            <a:r>
              <a:rPr lang="en-US" altLang="en-US" sz="2400"/>
              <a:t>The resulting relation for R1</a:t>
            </a:r>
            <a:r>
              <a:rPr lang="en-US" altLang="en-US" sz="2400">
                <a:latin typeface="Symbol" panose="05050102010706020507" pitchFamily="18" charset="2"/>
              </a:rPr>
              <a:t></a:t>
            </a:r>
            <a:r>
              <a:rPr lang="en-US" altLang="en-US" sz="2400"/>
              <a:t>R2 (also for R1</a:t>
            </a:r>
            <a:r>
              <a:rPr lang="en-US" altLang="en-US" sz="2400">
                <a:latin typeface="Symbol" panose="05050102010706020507" pitchFamily="18" charset="2"/>
              </a:rPr>
              <a:t></a:t>
            </a:r>
            <a:r>
              <a:rPr lang="en-US" altLang="en-US" sz="2400"/>
              <a:t>R2, or R1–R2, see next slides) has the same attribute names as the </a:t>
            </a:r>
            <a:r>
              <a:rPr lang="en-US" altLang="en-US" sz="2400" i="1"/>
              <a:t>first</a:t>
            </a:r>
            <a:r>
              <a:rPr lang="en-US" altLang="en-US" sz="2400"/>
              <a:t> operand relation R1 (by convention)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2B09B4FF-94B2-4B21-B610-5BB406F7B1C6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741" name="Rectangle 7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Relational Algebra Operations from Set Theory: INTERSECTION</a:t>
            </a:r>
          </a:p>
        </p:txBody>
      </p:sp>
      <p:sp>
        <p:nvSpPr>
          <p:cNvPr id="104874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239713" y="1600200"/>
            <a:ext cx="8294687" cy="4648200"/>
          </a:xfrm>
        </p:spPr>
        <p:txBody>
          <a:bodyPr/>
          <a:lstStyle/>
          <a:p>
            <a:pPr eaLnBrk="1" hangingPunct="1"/>
            <a:r>
              <a:rPr lang="en-US" altLang="en-US" sz="3200"/>
              <a:t>INTERSECTION is denoted by </a:t>
            </a:r>
            <a:r>
              <a:rPr lang="en-US" altLang="en-US" sz="3200">
                <a:latin typeface="Symbol" panose="05050102010706020507" pitchFamily="18" charset="2"/>
              </a:rPr>
              <a:t></a:t>
            </a:r>
            <a:endParaRPr lang="en-US" altLang="en-US" sz="3200"/>
          </a:p>
          <a:p>
            <a:pPr eaLnBrk="1" hangingPunct="1"/>
            <a:r>
              <a:rPr lang="en-US" altLang="en-US" sz="3200"/>
              <a:t>The result of the operation R </a:t>
            </a:r>
            <a:r>
              <a:rPr lang="en-US" altLang="en-US" sz="3200">
                <a:latin typeface="Symbol" panose="05050102010706020507" pitchFamily="18" charset="2"/>
              </a:rPr>
              <a:t></a:t>
            </a:r>
            <a:r>
              <a:rPr lang="en-US" altLang="en-US" sz="3200"/>
              <a:t> S, is a relation that includes all tuples that are in both R and S</a:t>
            </a:r>
          </a:p>
          <a:p>
            <a:pPr lvl="1" eaLnBrk="1" hangingPunct="1"/>
            <a:r>
              <a:rPr lang="en-US" altLang="en-US" sz="3000"/>
              <a:t>The attribute names in the result will be the same as the attribute names in R</a:t>
            </a:r>
          </a:p>
          <a:p>
            <a:pPr eaLnBrk="1" hangingPunct="1"/>
            <a:r>
              <a:rPr lang="en-US" altLang="en-US" sz="3200"/>
              <a:t>The two operand relations R and S must be “type compatible”</a:t>
            </a:r>
          </a:p>
          <a:p>
            <a:pPr eaLnBrk="1" hangingPunct="1"/>
            <a:endParaRPr lang="en-US" altLang="en-US" sz="3200"/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9D0670F4-34CC-42B3-8BE7-F28C92C3B4CC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747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Relational Algebra Operations from Set Theory: SET DIFFERENCE (cont.) </a:t>
            </a:r>
          </a:p>
        </p:txBody>
      </p:sp>
      <p:sp>
        <p:nvSpPr>
          <p:cNvPr id="1048748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239713" y="1600200"/>
            <a:ext cx="8294687" cy="4495800"/>
          </a:xfrm>
        </p:spPr>
        <p:txBody>
          <a:bodyPr/>
          <a:lstStyle/>
          <a:p>
            <a:pPr eaLnBrk="1" hangingPunct="1"/>
            <a:r>
              <a:rPr lang="en-US" altLang="en-US"/>
              <a:t>SET DIFFERENCE (also called MINUS or EXCEPT) is denoted by – </a:t>
            </a:r>
          </a:p>
          <a:p>
            <a:pPr eaLnBrk="1" hangingPunct="1"/>
            <a:r>
              <a:rPr lang="en-US" altLang="en-US"/>
              <a:t>The result of R – S, is a relation that includes all tuples that are in R but not in S</a:t>
            </a:r>
          </a:p>
          <a:p>
            <a:pPr lvl="1" eaLnBrk="1" hangingPunct="1"/>
            <a:r>
              <a:rPr lang="en-US" altLang="en-US" sz="3000"/>
              <a:t>The attribute names in the result will be the same as the attribute names in R</a:t>
            </a:r>
          </a:p>
          <a:p>
            <a:pPr eaLnBrk="1" hangingPunct="1"/>
            <a:r>
              <a:rPr lang="en-US" altLang="en-US" sz="3200"/>
              <a:t>The two operand relations R and S must be “type compatible”</a:t>
            </a:r>
            <a:endParaRPr lang="en-US" altLang="ja-JP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B5CFB67E-0D46-4069-9095-F795105DE053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75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Example to illustrate the result of UNION, INTERSECT, and DIFFERENCE</a:t>
            </a:r>
          </a:p>
        </p:txBody>
      </p:sp>
      <p:sp>
        <p:nvSpPr>
          <p:cNvPr id="1048754" name="Rectangle 3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pic>
        <p:nvPicPr>
          <p:cNvPr id="2097158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3763" y="1490663"/>
            <a:ext cx="6650037" cy="498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75F89AB0-BE99-4AB7-BFD1-D31AE8D26C23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75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Some properties of UNION, INTERSECT, and DIFFERENCE</a:t>
            </a:r>
          </a:p>
        </p:txBody>
      </p:sp>
      <p:sp>
        <p:nvSpPr>
          <p:cNvPr id="104876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Notice that both union and intersection are </a:t>
            </a:r>
            <a:r>
              <a:rPr lang="en-US" altLang="en-US" sz="2400" i="1"/>
              <a:t>commutative</a:t>
            </a:r>
            <a:r>
              <a:rPr lang="en-US" altLang="en-US" sz="2400"/>
              <a:t> operations; that is</a:t>
            </a:r>
          </a:p>
          <a:p>
            <a:pPr lvl="1" eaLnBrk="1" hangingPunct="1"/>
            <a:r>
              <a:rPr lang="en-US" altLang="en-US" sz="2200"/>
              <a:t>R </a:t>
            </a:r>
            <a:r>
              <a:rPr lang="en-US" altLang="en-US" sz="2200">
                <a:latin typeface="Symbol" panose="05050102010706020507" pitchFamily="18" charset="2"/>
              </a:rPr>
              <a:t></a:t>
            </a:r>
            <a:r>
              <a:rPr lang="en-US" altLang="en-US" sz="2200"/>
              <a:t> S = S </a:t>
            </a:r>
            <a:r>
              <a:rPr lang="en-US" altLang="en-US" sz="2200">
                <a:latin typeface="Symbol" panose="05050102010706020507" pitchFamily="18" charset="2"/>
              </a:rPr>
              <a:t></a:t>
            </a:r>
            <a:r>
              <a:rPr lang="en-US" altLang="en-US" sz="2200"/>
              <a:t> R, and R </a:t>
            </a:r>
            <a:r>
              <a:rPr lang="en-US" altLang="en-US" sz="2200">
                <a:latin typeface="Symbol" panose="05050102010706020507" pitchFamily="18" charset="2"/>
              </a:rPr>
              <a:t></a:t>
            </a:r>
            <a:r>
              <a:rPr lang="en-US" altLang="en-US" sz="2200"/>
              <a:t> S = S </a:t>
            </a:r>
            <a:r>
              <a:rPr lang="en-US" altLang="en-US" sz="2200">
                <a:latin typeface="Symbol" panose="05050102010706020507" pitchFamily="18" charset="2"/>
              </a:rPr>
              <a:t></a:t>
            </a:r>
            <a:r>
              <a:rPr lang="en-US" altLang="en-US" sz="2200"/>
              <a:t> R</a:t>
            </a:r>
          </a:p>
          <a:p>
            <a:pPr eaLnBrk="1" hangingPunct="1"/>
            <a:r>
              <a:rPr lang="en-US" altLang="en-US" sz="2400"/>
              <a:t>Both union and intersection can be treated as n-ary operations applicable to any number of relations as both are </a:t>
            </a:r>
            <a:r>
              <a:rPr lang="en-US" altLang="en-US" sz="2400" i="1"/>
              <a:t>associative</a:t>
            </a:r>
            <a:r>
              <a:rPr lang="en-US" altLang="en-US" sz="2400"/>
              <a:t> operations; that is</a:t>
            </a:r>
          </a:p>
          <a:p>
            <a:pPr lvl="1" eaLnBrk="1" hangingPunct="1"/>
            <a:r>
              <a:rPr lang="en-US" altLang="en-US" sz="2200"/>
              <a:t>R </a:t>
            </a:r>
            <a:r>
              <a:rPr lang="en-US" altLang="en-US" sz="2200">
                <a:latin typeface="Symbol" panose="05050102010706020507" pitchFamily="18" charset="2"/>
              </a:rPr>
              <a:t></a:t>
            </a:r>
            <a:r>
              <a:rPr lang="en-US" altLang="en-US" sz="2200"/>
              <a:t> (S </a:t>
            </a:r>
            <a:r>
              <a:rPr lang="en-US" altLang="en-US" sz="2200">
                <a:latin typeface="Symbol" panose="05050102010706020507" pitchFamily="18" charset="2"/>
              </a:rPr>
              <a:t></a:t>
            </a:r>
            <a:r>
              <a:rPr lang="en-US" altLang="en-US" sz="2200"/>
              <a:t> T) = (R </a:t>
            </a:r>
            <a:r>
              <a:rPr lang="en-US" altLang="en-US" sz="2200">
                <a:latin typeface="Symbol" panose="05050102010706020507" pitchFamily="18" charset="2"/>
              </a:rPr>
              <a:t></a:t>
            </a:r>
            <a:r>
              <a:rPr lang="en-US" altLang="en-US" sz="2200"/>
              <a:t> S) </a:t>
            </a:r>
            <a:r>
              <a:rPr lang="en-US" altLang="en-US" sz="2200">
                <a:latin typeface="Symbol" panose="05050102010706020507" pitchFamily="18" charset="2"/>
              </a:rPr>
              <a:t></a:t>
            </a:r>
            <a:r>
              <a:rPr lang="en-US" altLang="en-US" sz="2200"/>
              <a:t> T</a:t>
            </a:r>
          </a:p>
          <a:p>
            <a:pPr lvl="1" eaLnBrk="1" hangingPunct="1"/>
            <a:r>
              <a:rPr lang="en-US" altLang="en-US" sz="2200"/>
              <a:t>(R </a:t>
            </a:r>
            <a:r>
              <a:rPr lang="en-US" altLang="en-US" sz="2200">
                <a:latin typeface="Symbol" panose="05050102010706020507" pitchFamily="18" charset="2"/>
              </a:rPr>
              <a:t></a:t>
            </a:r>
            <a:r>
              <a:rPr lang="en-US" altLang="en-US" sz="2200"/>
              <a:t> S) </a:t>
            </a:r>
            <a:r>
              <a:rPr lang="en-US" altLang="en-US" sz="2200">
                <a:latin typeface="Symbol" panose="05050102010706020507" pitchFamily="18" charset="2"/>
              </a:rPr>
              <a:t></a:t>
            </a:r>
            <a:r>
              <a:rPr lang="en-US" altLang="en-US" sz="2200"/>
              <a:t> T = R </a:t>
            </a:r>
            <a:r>
              <a:rPr lang="en-US" altLang="en-US" sz="2200">
                <a:latin typeface="Symbol" panose="05050102010706020507" pitchFamily="18" charset="2"/>
              </a:rPr>
              <a:t></a:t>
            </a:r>
            <a:r>
              <a:rPr lang="en-US" altLang="en-US" sz="2200"/>
              <a:t> (S </a:t>
            </a:r>
            <a:r>
              <a:rPr lang="en-US" altLang="en-US" sz="2200">
                <a:latin typeface="Symbol" panose="05050102010706020507" pitchFamily="18" charset="2"/>
              </a:rPr>
              <a:t></a:t>
            </a:r>
            <a:r>
              <a:rPr lang="en-US" altLang="en-US" sz="2200"/>
              <a:t> T)</a:t>
            </a:r>
          </a:p>
          <a:p>
            <a:pPr eaLnBrk="1" hangingPunct="1"/>
            <a:r>
              <a:rPr lang="en-US" altLang="en-US" sz="2400"/>
              <a:t>The minus operation is not commutative; that is, in general</a:t>
            </a:r>
          </a:p>
          <a:p>
            <a:pPr lvl="1" eaLnBrk="1" hangingPunct="1"/>
            <a:r>
              <a:rPr lang="en-US" altLang="en-US" sz="2200"/>
              <a:t>R – S ≠ S – R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42006B0C-81D4-45AE-B93B-F62A700ACB2C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76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Relational Algebra Operations from Set Theory: CARTESIAN PRODUCT</a:t>
            </a:r>
          </a:p>
        </p:txBody>
      </p:sp>
      <p:sp>
        <p:nvSpPr>
          <p:cNvPr id="104876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CARTESIAN (or CROSS) PRODUCT Operation</a:t>
            </a:r>
          </a:p>
          <a:p>
            <a:pPr lvl="1" eaLnBrk="1" hangingPunct="1"/>
            <a:r>
              <a:rPr lang="en-US" altLang="en-US" sz="2200"/>
              <a:t>This operation is used to combine tuples from two relations in a combinatorial fashion.</a:t>
            </a:r>
          </a:p>
          <a:p>
            <a:pPr lvl="1" eaLnBrk="1" hangingPunct="1"/>
            <a:r>
              <a:rPr lang="en-US" altLang="en-US" sz="2200"/>
              <a:t>Denoted by R(A1, A2, . . ., An) x S(B1, B2, . . ., Bm)</a:t>
            </a:r>
          </a:p>
          <a:p>
            <a:pPr lvl="1" eaLnBrk="1" hangingPunct="1"/>
            <a:r>
              <a:rPr lang="en-US" altLang="en-US" sz="2200"/>
              <a:t>Result is a relation Q with degree n + m attributes:</a:t>
            </a:r>
          </a:p>
          <a:p>
            <a:pPr lvl="2" eaLnBrk="1" hangingPunct="1"/>
            <a:r>
              <a:rPr lang="en-US" altLang="en-US" sz="2000"/>
              <a:t>Q(A1, A2, . . ., An, B1, B2, . . ., Bm), in that order.</a:t>
            </a:r>
          </a:p>
          <a:p>
            <a:pPr lvl="1" eaLnBrk="1" hangingPunct="1"/>
            <a:r>
              <a:rPr lang="en-US" altLang="en-US" sz="2200"/>
              <a:t>The resulting relation state has one tuple for each combination of tuples—one from R and one from S. </a:t>
            </a:r>
          </a:p>
          <a:p>
            <a:pPr lvl="1" eaLnBrk="1" hangingPunct="1"/>
            <a:r>
              <a:rPr lang="en-US" altLang="en-US" sz="2200"/>
              <a:t>Hence, if R has n</a:t>
            </a:r>
            <a:r>
              <a:rPr lang="en-US" altLang="en-US" sz="2200" baseline="-25000"/>
              <a:t>R</a:t>
            </a:r>
            <a:r>
              <a:rPr lang="en-US" altLang="en-US" sz="2200"/>
              <a:t> tuples (denoted as |R| = n</a:t>
            </a:r>
            <a:r>
              <a:rPr lang="en-US" altLang="en-US" sz="2200" baseline="-25000"/>
              <a:t>R</a:t>
            </a:r>
            <a:r>
              <a:rPr lang="en-US" altLang="en-US" sz="2200"/>
              <a:t> ), and S has n</a:t>
            </a:r>
            <a:r>
              <a:rPr lang="en-US" altLang="en-US" sz="2200" baseline="-25000"/>
              <a:t>S</a:t>
            </a:r>
            <a:r>
              <a:rPr lang="en-US" altLang="en-US" sz="2200"/>
              <a:t> tuples, then R x S will have n</a:t>
            </a:r>
            <a:r>
              <a:rPr lang="en-US" altLang="en-US" sz="2200" baseline="-25000"/>
              <a:t>R</a:t>
            </a:r>
            <a:r>
              <a:rPr lang="en-US" altLang="en-US" sz="2200"/>
              <a:t> * n</a:t>
            </a:r>
            <a:r>
              <a:rPr lang="en-US" altLang="en-US" sz="2200" baseline="-25000"/>
              <a:t>S</a:t>
            </a:r>
            <a:r>
              <a:rPr lang="en-US" altLang="en-US" sz="2200"/>
              <a:t> tuples.</a:t>
            </a:r>
          </a:p>
          <a:p>
            <a:pPr lvl="1" eaLnBrk="1" hangingPunct="1"/>
            <a:r>
              <a:rPr lang="en-US" altLang="en-US" sz="2200"/>
              <a:t>The two operands do NOT have to be "type compatible”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E5E46B16-3CED-41F5-A6ED-299678B103FD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Relational Algebra Operations from Set Theory: CARTESIAN PRODUCT (cont.)</a:t>
            </a:r>
          </a:p>
        </p:txBody>
      </p:sp>
      <p:sp>
        <p:nvSpPr>
          <p:cNvPr id="1048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Generally, CROSS PRODUCT is not a meaningful operation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Can become meaningful when followed by other operations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Example (not meaningful):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FEMALE_EMPS </a:t>
            </a:r>
            <a:r>
              <a:rPr lang="en-US" altLang="en-US" sz="2200">
                <a:sym typeface="Symbol" panose="05050102010706020507" pitchFamily="18" charset="2"/>
              </a:rPr>
              <a:t> </a:t>
            </a:r>
            <a:r>
              <a:rPr lang="en-US" altLang="en-US" sz="2200" b="1">
                <a:latin typeface="Symbol" panose="05050102010706020507" pitchFamily="18" charset="2"/>
              </a:rPr>
              <a:t></a:t>
            </a:r>
            <a:r>
              <a:rPr lang="en-US" altLang="en-US" sz="2200"/>
              <a:t> </a:t>
            </a:r>
            <a:r>
              <a:rPr lang="en-US" altLang="en-US" sz="2200" baseline="-25000"/>
              <a:t>SEX=’F’</a:t>
            </a:r>
            <a:r>
              <a:rPr lang="en-US" altLang="ja-JP" sz="2200"/>
              <a:t>(EMPLOYEE)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EMPNAMES </a:t>
            </a:r>
            <a:r>
              <a:rPr lang="en-US" altLang="en-US" sz="2200">
                <a:sym typeface="Symbol" panose="05050102010706020507" pitchFamily="18" charset="2"/>
              </a:rPr>
              <a:t> </a:t>
            </a:r>
            <a:r>
              <a:rPr lang="en-US" altLang="en-US" sz="2200" b="1">
                <a:latin typeface="Symbol" panose="05050102010706020507" pitchFamily="18" charset="2"/>
              </a:rPr>
              <a:t></a:t>
            </a:r>
            <a:r>
              <a:rPr lang="en-US" altLang="en-US" sz="2200"/>
              <a:t> </a:t>
            </a:r>
            <a:r>
              <a:rPr lang="en-US" altLang="en-US" sz="2200" baseline="-25000"/>
              <a:t>FNAME, LNAME, SSN </a:t>
            </a:r>
            <a:r>
              <a:rPr lang="en-US" altLang="en-US" sz="2200"/>
              <a:t>(FEMALE_EMPS)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EMP_DEPENDENTS </a:t>
            </a:r>
            <a:r>
              <a:rPr lang="en-US" altLang="en-US" sz="2200">
                <a:sym typeface="Symbol" panose="05050102010706020507" pitchFamily="18" charset="2"/>
              </a:rPr>
              <a:t> </a:t>
            </a:r>
            <a:r>
              <a:rPr lang="en-US" altLang="en-US" sz="2200"/>
              <a:t>EMPNAMES x DEPENDENT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EMP_DEPENDENTS will contain every combination of EMPNAMES and DEPENDENT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whether or not they are actually related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867110F7-CC87-4ABA-950F-2CD180995D2D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Relational Algebra Operations from Set Theory: CARTESIAN PRODUCT (cont.)</a:t>
            </a:r>
          </a:p>
        </p:txBody>
      </p:sp>
      <p:sp>
        <p:nvSpPr>
          <p:cNvPr id="10487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To keep only combinations where the DEPENDENT is related to the EMPLOYEE, we add a SELECT operation as follows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Example (meaningful):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FEMALE_EMPS </a:t>
            </a:r>
            <a:r>
              <a:rPr lang="en-US" altLang="en-US" sz="2200">
                <a:sym typeface="Symbol" panose="05050102010706020507" pitchFamily="18" charset="2"/>
              </a:rPr>
              <a:t> </a:t>
            </a:r>
            <a:r>
              <a:rPr lang="en-US" altLang="en-US" sz="2200" b="1">
                <a:latin typeface="Symbol" panose="05050102010706020507" pitchFamily="18" charset="2"/>
              </a:rPr>
              <a:t></a:t>
            </a:r>
            <a:r>
              <a:rPr lang="en-US" altLang="en-US" sz="2200"/>
              <a:t> </a:t>
            </a:r>
            <a:r>
              <a:rPr lang="en-US" altLang="en-US" sz="2200" baseline="-25000"/>
              <a:t>SEX=’F’</a:t>
            </a:r>
            <a:r>
              <a:rPr lang="en-US" altLang="ja-JP" sz="2200"/>
              <a:t>(EMPLOYEE)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EMPNAMES </a:t>
            </a:r>
            <a:r>
              <a:rPr lang="en-US" altLang="en-US" sz="2200">
                <a:sym typeface="Symbol" panose="05050102010706020507" pitchFamily="18" charset="2"/>
              </a:rPr>
              <a:t> </a:t>
            </a:r>
            <a:r>
              <a:rPr lang="en-US" altLang="en-US" sz="2200" b="1">
                <a:latin typeface="Symbol" panose="05050102010706020507" pitchFamily="18" charset="2"/>
              </a:rPr>
              <a:t></a:t>
            </a:r>
            <a:r>
              <a:rPr lang="en-US" altLang="en-US" sz="2200"/>
              <a:t> </a:t>
            </a:r>
            <a:r>
              <a:rPr lang="en-US" altLang="en-US" sz="2200" baseline="-25000"/>
              <a:t>FNAME, LNAME, SSN </a:t>
            </a:r>
            <a:r>
              <a:rPr lang="en-US" altLang="en-US" sz="2200"/>
              <a:t>(FEMALE_EMPS)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EMP_DEPENDENTS </a:t>
            </a:r>
            <a:r>
              <a:rPr lang="en-US" altLang="en-US" sz="2200">
                <a:sym typeface="Symbol" panose="05050102010706020507" pitchFamily="18" charset="2"/>
              </a:rPr>
              <a:t> </a:t>
            </a:r>
            <a:r>
              <a:rPr lang="en-US" altLang="en-US" sz="2200"/>
              <a:t>EMPNAMES x DEPENDENT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ACTUAL_DEPS </a:t>
            </a:r>
            <a:r>
              <a:rPr lang="en-US" altLang="en-US" sz="2200">
                <a:sym typeface="Symbol" panose="05050102010706020507" pitchFamily="18" charset="2"/>
              </a:rPr>
              <a:t> </a:t>
            </a:r>
            <a:r>
              <a:rPr lang="en-US" altLang="en-US" sz="2200" b="1">
                <a:latin typeface="Symbol" panose="05050102010706020507" pitchFamily="18" charset="2"/>
              </a:rPr>
              <a:t></a:t>
            </a:r>
            <a:r>
              <a:rPr lang="en-US" altLang="en-US" sz="2200"/>
              <a:t> </a:t>
            </a:r>
            <a:r>
              <a:rPr lang="en-US" altLang="en-US" sz="2200" baseline="-25000"/>
              <a:t>SSN=ESSN</a:t>
            </a:r>
            <a:r>
              <a:rPr lang="en-US" altLang="en-US" sz="2200"/>
              <a:t>(EMP_DEPENDENTS)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RESULT </a:t>
            </a:r>
            <a:r>
              <a:rPr lang="en-US" altLang="en-US" sz="2200">
                <a:sym typeface="Symbol" panose="05050102010706020507" pitchFamily="18" charset="2"/>
              </a:rPr>
              <a:t> </a:t>
            </a:r>
            <a:r>
              <a:rPr lang="en-US" altLang="en-US" sz="2200" b="1">
                <a:latin typeface="Symbol" panose="05050102010706020507" pitchFamily="18" charset="2"/>
              </a:rPr>
              <a:t></a:t>
            </a:r>
            <a:r>
              <a:rPr lang="en-US" altLang="en-US" sz="2200"/>
              <a:t> </a:t>
            </a:r>
            <a:r>
              <a:rPr lang="en-US" altLang="en-US" sz="2200" baseline="-25000"/>
              <a:t>FNAME, LNAME, DEPENDENT_NAME </a:t>
            </a:r>
            <a:r>
              <a:rPr lang="en-US" altLang="en-US" sz="2200"/>
              <a:t>(ACTUAL_DEPS)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RESULT will now contain the name of female employees and their dependents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2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>
                <a:latin typeface="Verdana" panose="020B0604030504040204" pitchFamily="34" charset="0"/>
              </a:rPr>
              <a:t>Figure 8.5</a:t>
            </a:r>
            <a:r>
              <a:rPr lang="en-US" altLang="en-US" sz="2800">
                <a:latin typeface="Verdana" panose="020B0604030504040204" pitchFamily="34" charset="0"/>
              </a:rPr>
              <a:t>   The CARTESIAN PRODUCT (CROSS PRODUCT) operation.</a:t>
            </a:r>
          </a:p>
        </p:txBody>
      </p:sp>
      <p:pic>
        <p:nvPicPr>
          <p:cNvPr id="2097159" name="Picture 3" descr="fig08_05continueda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151063"/>
            <a:ext cx="8229600" cy="286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83" name="TextBox 4"/>
          <p:cNvSpPr txBox="1">
            <a:spLocks noChangeArrowheads="1"/>
          </p:cNvSpPr>
          <p:nvPr/>
        </p:nvSpPr>
        <p:spPr bwMode="auto">
          <a:xfrm>
            <a:off x="5668963" y="6124575"/>
            <a:ext cx="3475037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i="1">
                <a:solidFill>
                  <a:schemeClr val="tx1"/>
                </a:solidFill>
                <a:latin typeface="Verdana" panose="020B0604030504040204" pitchFamily="34" charset="0"/>
              </a:rPr>
              <a:t>continued on next slide</a:t>
            </a:r>
          </a:p>
        </p:txBody>
      </p:sp>
      <p:sp>
        <p:nvSpPr>
          <p:cNvPr id="104878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CA703E97-7371-48AE-A040-575B7197333D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 advTm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b="1">
                <a:latin typeface="Verdana" panose="020B0604030504040204" pitchFamily="34" charset="0"/>
              </a:rPr>
              <a:t>Figure 8.5 (continued)</a:t>
            </a:r>
            <a:r>
              <a:rPr lang="en-US" altLang="en-US" sz="2400">
                <a:latin typeface="Verdana" panose="020B0604030504040204" pitchFamily="34" charset="0"/>
              </a:rPr>
              <a:t>   The CARTESIAN PRODUCT (CROSS PRODUCT) operation</a:t>
            </a:r>
            <a:r>
              <a:rPr lang="en-US" altLang="en-US">
                <a:latin typeface="Verdana" panose="020B0604030504040204" pitchFamily="34" charset="0"/>
              </a:rPr>
              <a:t>.</a:t>
            </a:r>
          </a:p>
        </p:txBody>
      </p:sp>
      <p:pic>
        <p:nvPicPr>
          <p:cNvPr id="2097160" name="Picture 3" descr="fig08_05continuedb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38" y="1524000"/>
            <a:ext cx="6661150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86" name="TextBox 4"/>
          <p:cNvSpPr txBox="1">
            <a:spLocks noChangeArrowheads="1"/>
          </p:cNvSpPr>
          <p:nvPr/>
        </p:nvSpPr>
        <p:spPr bwMode="auto">
          <a:xfrm>
            <a:off x="5668963" y="6124575"/>
            <a:ext cx="3475037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i="1">
                <a:solidFill>
                  <a:schemeClr val="tx1"/>
                </a:solidFill>
                <a:latin typeface="Verdana" panose="020B0604030504040204" pitchFamily="34" charset="0"/>
              </a:rPr>
              <a:t>continued on next slide</a:t>
            </a:r>
          </a:p>
        </p:txBody>
      </p:sp>
      <p:sp>
        <p:nvSpPr>
          <p:cNvPr id="104878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DDA978CF-E757-4CE0-B280-1E586CB923CD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 advTm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b="1">
                <a:latin typeface="Verdana" panose="020B0604030504040204" pitchFamily="34" charset="0"/>
              </a:rPr>
              <a:t>Figure 8.5 (continued)</a:t>
            </a:r>
            <a:r>
              <a:rPr lang="en-US" altLang="en-US" sz="2400">
                <a:latin typeface="Verdana" panose="020B0604030504040204" pitchFamily="34" charset="0"/>
              </a:rPr>
              <a:t>   The CARTESIAN PRODUCT (CROSS PRODUCT) operation.</a:t>
            </a:r>
          </a:p>
        </p:txBody>
      </p:sp>
      <p:pic>
        <p:nvPicPr>
          <p:cNvPr id="2097161" name="Picture 2" descr="fig08_05continuedc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738438"/>
            <a:ext cx="8229600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8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5357AE16-8068-4838-9A5E-27E5435F1A5A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 advTm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3F3B850A-29BA-4891-82C2-39AAFF5EF427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791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Binary Relational Operations: JOIN</a:t>
            </a:r>
          </a:p>
        </p:txBody>
      </p:sp>
      <p:sp>
        <p:nvSpPr>
          <p:cNvPr id="1048792" name="Rectangle 2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JOIN Operation (denoted by     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The sequence of CARTESIAN PRODECT followed by SELECT is used quite commonly to identify and select related tuples from two relations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A special operation, called JOIN combines this sequence into a single operation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This operation is very important for any relational database with more than a single relation, because it allows us </a:t>
            </a:r>
            <a:r>
              <a:rPr lang="en-US" altLang="en-US" sz="2200" i="1"/>
              <a:t>combine related tuples</a:t>
            </a:r>
            <a:r>
              <a:rPr lang="en-US" altLang="en-US" sz="2200"/>
              <a:t> from various relations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The general form of a join operation on two relations R(A1, A2, . . ., An) and S(B1, B2, . . ., Bm) is:</a:t>
            </a:r>
          </a:p>
          <a:p>
            <a:pPr lvl="1"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/>
              <a:t>R     </a:t>
            </a:r>
            <a:r>
              <a:rPr lang="en-US" altLang="en-US" sz="2200" baseline="-25000"/>
              <a:t>&lt;join condition&gt;</a:t>
            </a:r>
            <a:r>
              <a:rPr lang="en-US" altLang="en-US" sz="2200"/>
              <a:t>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where R and S can be any relations that result from general </a:t>
            </a:r>
            <a:r>
              <a:rPr lang="en-US" altLang="en-US" sz="2200" i="1"/>
              <a:t>relational algebra expressions</a:t>
            </a:r>
            <a:r>
              <a:rPr lang="en-US" altLang="en-US" sz="2200"/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/>
          </a:p>
        </p:txBody>
      </p:sp>
      <p:grpSp>
        <p:nvGrpSpPr>
          <p:cNvPr id="216" name="Group 25"/>
          <p:cNvGrpSpPr/>
          <p:nvPr/>
        </p:nvGrpSpPr>
        <p:grpSpPr bwMode="auto">
          <a:xfrm>
            <a:off x="4648200" y="1687513"/>
            <a:ext cx="219075" cy="174625"/>
            <a:chOff x="377" y="2904"/>
            <a:chExt cx="154" cy="110"/>
          </a:xfrm>
        </p:grpSpPr>
        <p:sp>
          <p:nvSpPr>
            <p:cNvPr id="1048793" name="Line 26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794" name="Line 27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795" name="Line 28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796" name="Line 29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217" name="Group 35"/>
          <p:cNvGrpSpPr/>
          <p:nvPr/>
        </p:nvGrpSpPr>
        <p:grpSpPr bwMode="auto">
          <a:xfrm>
            <a:off x="3886200" y="5035550"/>
            <a:ext cx="244475" cy="174625"/>
            <a:chOff x="377" y="2904"/>
            <a:chExt cx="154" cy="110"/>
          </a:xfrm>
        </p:grpSpPr>
        <p:sp>
          <p:nvSpPr>
            <p:cNvPr id="1048797" name="Line 36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798" name="Line 37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799" name="Line 38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800" name="Line 39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</p:grp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50E31DF8-F629-401D-8AC0-60E1FA306199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805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Binary Relational Operations: JOIN (cont.)</a:t>
            </a:r>
          </a:p>
        </p:txBody>
      </p:sp>
      <p:sp>
        <p:nvSpPr>
          <p:cNvPr id="1048806" name="Rectangle 20"/>
          <p:cNvSpPr>
            <a:spLocks noGrp="1" noChangeArrowheads="1"/>
          </p:cNvSpPr>
          <p:nvPr>
            <p:ph type="body" idx="1"/>
          </p:nvPr>
        </p:nvSpPr>
        <p:spPr>
          <a:xfrm>
            <a:off x="239713" y="1600200"/>
            <a:ext cx="8447087" cy="4267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Example: Suppose that we want to retrieve the name of the manager of each department.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To get the manager’s name, we need to combine each DEPARTMENT tuple with the EMPLOYEE tuple whose SSN value matches the MGRSSN value in the department tuple.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We do this by using the join           operation.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200"/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DEPT_MGR </a:t>
            </a:r>
            <a:r>
              <a:rPr lang="en-US" altLang="en-US" sz="2200">
                <a:sym typeface="Symbol" panose="05050102010706020507" pitchFamily="18" charset="2"/>
              </a:rPr>
              <a:t></a:t>
            </a:r>
            <a:r>
              <a:rPr lang="en-US" altLang="en-US" sz="2200"/>
              <a:t> DEPARTMENT   </a:t>
            </a:r>
            <a:r>
              <a:rPr lang="en-US" altLang="en-US" sz="2200" baseline="-25000"/>
              <a:t>MGRSSN=SSN </a:t>
            </a:r>
            <a:r>
              <a:rPr lang="en-US" altLang="en-US" sz="2200"/>
              <a:t>EMPLOYEE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MGRSSN=SSN is the join condition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Combines each department record with the employee who manages the department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The join condition can also be specified as DEPARTMENT.MGRSSN= EMPLOYEE.SSN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80000"/>
              </a:lnSpc>
            </a:pPr>
            <a:endParaRPr lang="en-US" altLang="en-US" sz="2400"/>
          </a:p>
        </p:txBody>
      </p:sp>
      <p:grpSp>
        <p:nvGrpSpPr>
          <p:cNvPr id="221" name="Group 4"/>
          <p:cNvGrpSpPr/>
          <p:nvPr/>
        </p:nvGrpSpPr>
        <p:grpSpPr bwMode="auto">
          <a:xfrm>
            <a:off x="4660900" y="3200400"/>
            <a:ext cx="487363" cy="174625"/>
            <a:chOff x="377" y="2904"/>
            <a:chExt cx="154" cy="110"/>
          </a:xfrm>
        </p:grpSpPr>
        <p:sp>
          <p:nvSpPr>
            <p:cNvPr id="1048807" name="Line 5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222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808" name="Line 6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222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809" name="Line 7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222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810" name="Line 8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222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</p:grpSp>
      <p:grpSp>
        <p:nvGrpSpPr>
          <p:cNvPr id="222" name="Group 9"/>
          <p:cNvGrpSpPr/>
          <p:nvPr/>
        </p:nvGrpSpPr>
        <p:grpSpPr bwMode="auto">
          <a:xfrm>
            <a:off x="5122863" y="3657600"/>
            <a:ext cx="441325" cy="347663"/>
            <a:chOff x="377" y="2904"/>
            <a:chExt cx="154" cy="110"/>
          </a:xfrm>
        </p:grpSpPr>
        <p:sp>
          <p:nvSpPr>
            <p:cNvPr id="1048811" name="Line 10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812" name="Line 11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813" name="Line 12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814" name="Line 13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</p:grp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Title 1"/>
          <p:cNvSpPr>
            <a:spLocks noGrp="1"/>
          </p:cNvSpPr>
          <p:nvPr>
            <p:ph type="title"/>
          </p:nvPr>
        </p:nvSpPr>
        <p:spPr>
          <a:xfrm>
            <a:off x="228600" y="303213"/>
            <a:ext cx="8153400" cy="992187"/>
          </a:xfrm>
        </p:spPr>
        <p:txBody>
          <a:bodyPr/>
          <a:lstStyle/>
          <a:p>
            <a:r>
              <a:rPr lang="en-US" altLang="en-US" sz="2400" b="1">
                <a:latin typeface="Verdana" panose="020B0604030504040204" pitchFamily="34" charset="0"/>
              </a:rPr>
              <a:t>Figure 8.6</a:t>
            </a:r>
            <a:r>
              <a:rPr lang="en-US" altLang="en-US" sz="2400">
                <a:latin typeface="Verdana" panose="020B0604030504040204" pitchFamily="34" charset="0"/>
              </a:rPr>
              <a:t>   Result of the JOIN operation DEPT_MGR ← DEPARTMENT</a:t>
            </a:r>
            <a:r>
              <a:rPr lang="en-US" altLang="en-US" sz="2400" baseline="30000">
                <a:latin typeface="Verdana" panose="020B0604030504040204" pitchFamily="34" charset="0"/>
              </a:rPr>
              <a:t>|X|</a:t>
            </a:r>
            <a:r>
              <a:rPr lang="en-US" altLang="en-US" sz="2400">
                <a:latin typeface="Verdana" panose="020B0604030504040204" pitchFamily="34" charset="0"/>
              </a:rPr>
              <a:t>  </a:t>
            </a:r>
            <a:r>
              <a:rPr lang="en-US" altLang="en-US" sz="2400" baseline="-25000">
                <a:latin typeface="Verdana" panose="020B0604030504040204" pitchFamily="34" charset="0"/>
              </a:rPr>
              <a:t>Mgr_ssn=Ssn</a:t>
            </a:r>
            <a:r>
              <a:rPr lang="en-US" altLang="en-US" sz="2400">
                <a:latin typeface="Verdana" panose="020B0604030504040204" pitchFamily="34" charset="0"/>
              </a:rPr>
              <a:t>EMPLOYEE.</a:t>
            </a:r>
          </a:p>
        </p:txBody>
      </p:sp>
      <p:pic>
        <p:nvPicPr>
          <p:cNvPr id="2097162" name="Picture 2" descr="fig08_06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876550"/>
            <a:ext cx="8229600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81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46CDBB57-BE69-4BEE-845B-4A950E390515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 advTm="0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A9FF8738-270E-4464-B196-8063F193906C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821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 properties of JOIN</a:t>
            </a:r>
          </a:p>
        </p:txBody>
      </p:sp>
      <p:sp>
        <p:nvSpPr>
          <p:cNvPr id="1048822" name="Rectangle 1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Consider the following JOIN operation:</a:t>
            </a:r>
          </a:p>
          <a:p>
            <a:pPr lvl="1" eaLnBrk="1" hangingPunct="1"/>
            <a:r>
              <a:rPr lang="en-US" altLang="en-US" sz="2200"/>
              <a:t>R(A1, A2, . . ., An)                   S(B1, B2, . . ., Bm)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                                       R.Ai=S.Bj</a:t>
            </a:r>
          </a:p>
          <a:p>
            <a:pPr lvl="1" eaLnBrk="1" hangingPunct="1"/>
            <a:r>
              <a:rPr lang="en-US" altLang="en-US" sz="2200"/>
              <a:t>Result is a relation Q with degree n + m attributes:</a:t>
            </a:r>
          </a:p>
          <a:p>
            <a:pPr lvl="2" eaLnBrk="1" hangingPunct="1"/>
            <a:r>
              <a:rPr lang="en-US" altLang="en-US" sz="2000"/>
              <a:t>Q(A1, A2, . . ., An, B1, B2, . . ., Bm), in that order.</a:t>
            </a:r>
          </a:p>
          <a:p>
            <a:pPr lvl="1" eaLnBrk="1" hangingPunct="1"/>
            <a:r>
              <a:rPr lang="en-US" altLang="en-US" sz="2200"/>
              <a:t>The resulting relation state has one tuple for each combination of tuples—r from R and s from S, but </a:t>
            </a:r>
            <a:r>
              <a:rPr lang="en-US" altLang="en-US" sz="2200" i="1"/>
              <a:t>only if they satisfy the join condition</a:t>
            </a:r>
            <a:r>
              <a:rPr lang="en-US" altLang="en-US" sz="2200"/>
              <a:t> r[Ai]=s[Bj]</a:t>
            </a:r>
          </a:p>
          <a:p>
            <a:pPr lvl="1" eaLnBrk="1" hangingPunct="1"/>
            <a:r>
              <a:rPr lang="en-US" altLang="en-US" sz="2200"/>
              <a:t>Hence, if R has n</a:t>
            </a:r>
            <a:r>
              <a:rPr lang="en-US" altLang="en-US" sz="2200" baseline="-25000"/>
              <a:t>R</a:t>
            </a:r>
            <a:r>
              <a:rPr lang="en-US" altLang="en-US" sz="2200"/>
              <a:t> tuples, and S has n</a:t>
            </a:r>
            <a:r>
              <a:rPr lang="en-US" altLang="en-US" sz="2200" baseline="-25000"/>
              <a:t>S</a:t>
            </a:r>
            <a:r>
              <a:rPr lang="en-US" altLang="en-US" sz="2200"/>
              <a:t> tuples, then the join result will generally have </a:t>
            </a:r>
            <a:r>
              <a:rPr lang="en-US" altLang="en-US" sz="2200" i="1"/>
              <a:t>less than</a:t>
            </a:r>
            <a:r>
              <a:rPr lang="en-US" altLang="en-US" sz="2200"/>
              <a:t> n</a:t>
            </a:r>
            <a:r>
              <a:rPr lang="en-US" altLang="en-US" sz="2200" baseline="-25000"/>
              <a:t>R</a:t>
            </a:r>
            <a:r>
              <a:rPr lang="en-US" altLang="en-US" sz="2200"/>
              <a:t> * n</a:t>
            </a:r>
            <a:r>
              <a:rPr lang="en-US" altLang="en-US" sz="2200" baseline="-25000"/>
              <a:t>S</a:t>
            </a:r>
            <a:r>
              <a:rPr lang="en-US" altLang="en-US" sz="2200"/>
              <a:t> tuples.</a:t>
            </a:r>
          </a:p>
          <a:p>
            <a:pPr lvl="1" eaLnBrk="1" hangingPunct="1"/>
            <a:r>
              <a:rPr lang="en-US" altLang="en-US" sz="2200"/>
              <a:t>Only related tuples (based on the join condition) will appear in the result</a:t>
            </a:r>
          </a:p>
        </p:txBody>
      </p:sp>
      <p:grpSp>
        <p:nvGrpSpPr>
          <p:cNvPr id="227" name="Group 17"/>
          <p:cNvGrpSpPr/>
          <p:nvPr/>
        </p:nvGrpSpPr>
        <p:grpSpPr bwMode="auto">
          <a:xfrm>
            <a:off x="3810000" y="2133600"/>
            <a:ext cx="441325" cy="347663"/>
            <a:chOff x="377" y="2904"/>
            <a:chExt cx="154" cy="110"/>
          </a:xfrm>
        </p:grpSpPr>
        <p:sp>
          <p:nvSpPr>
            <p:cNvPr id="1048823" name="Line 18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824" name="Line 19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825" name="Line 20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826" name="Line 21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</p:grp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537990A1-791C-4FF4-BBB6-8F1565ECC76B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8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 properties of JOIN</a:t>
            </a:r>
          </a:p>
        </p:txBody>
      </p:sp>
      <p:sp>
        <p:nvSpPr>
          <p:cNvPr id="10488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The general case of JOIN operation is called a Theta-join: R              S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                        </a:t>
            </a:r>
            <a:r>
              <a:rPr lang="en-US" altLang="en-US" i="1"/>
              <a:t>theta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join condition is called </a:t>
            </a:r>
            <a:r>
              <a:rPr lang="en-US" altLang="en-US" i="1"/>
              <a:t>theta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i="1"/>
              <a:t>Theta</a:t>
            </a:r>
            <a:r>
              <a:rPr lang="en-US" altLang="en-US"/>
              <a:t> can be any general boolean expression on the attributes of R and S; for example: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R.Ai&lt;S.Bj AND (R.Ak=S.Bl OR R.Ap&lt;S.Bq)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Most join conditions involve one or more equality conditions “AND”ed together; for example: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R.Ai=S.Bj AND R.Ak=S.Bl AND R.Ap=S.Bq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</p:txBody>
      </p:sp>
      <p:grpSp>
        <p:nvGrpSpPr>
          <p:cNvPr id="231" name="Group 4"/>
          <p:cNvGrpSpPr/>
          <p:nvPr/>
        </p:nvGrpSpPr>
        <p:grpSpPr bwMode="auto">
          <a:xfrm>
            <a:off x="3124200" y="2133600"/>
            <a:ext cx="441325" cy="347663"/>
            <a:chOff x="377" y="2904"/>
            <a:chExt cx="154" cy="110"/>
          </a:xfrm>
        </p:grpSpPr>
        <p:sp>
          <p:nvSpPr>
            <p:cNvPr id="1048833" name="Line 5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834" name="Line 6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835" name="Line 7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836" name="Line 8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</p:grp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C4FEF653-C667-4A4C-818A-C1DE21CA40F2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Binary Relational Operations: EQUIJOIN</a:t>
            </a:r>
          </a:p>
        </p:txBody>
      </p:sp>
      <p:sp>
        <p:nvSpPr>
          <p:cNvPr id="10488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EQUIJOIN Operation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most common use of join involves join conditions with </a:t>
            </a:r>
            <a:r>
              <a:rPr lang="en-US" altLang="en-US" i="1"/>
              <a:t>equality comparisons</a:t>
            </a:r>
            <a:r>
              <a:rPr lang="en-US" altLang="en-US"/>
              <a:t> only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Such a join, where the only comparison operator used is =, is called an EQUIJOIN.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In the result of an EQUIJOIN we always have one or more pairs of attributes (whose names need not be  identical) that have identical values in every tuple.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The JOIN seen in the previous example was an EQUIJOIN.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597CB169-8565-4E2E-86AA-1949EA359730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84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Binary Relational Operations: </a:t>
            </a:r>
            <a:br>
              <a:rPr lang="en-US" altLang="en-US" sz="3200"/>
            </a:br>
            <a:r>
              <a:rPr lang="en-US" altLang="en-US" sz="3200"/>
              <a:t>NATURAL JOIN Operation</a:t>
            </a:r>
          </a:p>
        </p:txBody>
      </p:sp>
      <p:sp>
        <p:nvSpPr>
          <p:cNvPr id="1048848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NATURAL JOIN Operation </a:t>
            </a:r>
          </a:p>
          <a:p>
            <a:pPr lvl="1" eaLnBrk="1" hangingPunct="1"/>
            <a:r>
              <a:rPr lang="en-US" altLang="en-US" sz="2200"/>
              <a:t>Another variation of JOIN called NATURAL JOIN — denoted by * — was created to get rid of the second (superfluous) attribute in an EQUIJOIN condition.</a:t>
            </a:r>
          </a:p>
          <a:p>
            <a:pPr lvl="2" eaLnBrk="1" hangingPunct="1"/>
            <a:r>
              <a:rPr lang="en-US" altLang="en-US" sz="2000"/>
              <a:t>because one of each pair of attributes with identical values is superfluous</a:t>
            </a:r>
          </a:p>
          <a:p>
            <a:pPr lvl="1" eaLnBrk="1" hangingPunct="1"/>
            <a:r>
              <a:rPr lang="en-US" altLang="en-US" sz="2200"/>
              <a:t>The standard definition of natural join requires that the two join attributes, or each pair of corresponding join attributes, </a:t>
            </a:r>
            <a:r>
              <a:rPr lang="en-US" altLang="en-US" sz="2200" i="1"/>
              <a:t>have the same name</a:t>
            </a:r>
            <a:r>
              <a:rPr lang="en-US" altLang="en-US" sz="2200"/>
              <a:t> in both relations</a:t>
            </a:r>
          </a:p>
          <a:p>
            <a:pPr lvl="1" eaLnBrk="1" hangingPunct="1"/>
            <a:r>
              <a:rPr lang="en-US" altLang="en-US" sz="2200"/>
              <a:t>If this is not the case, a renaming operation is applied first.	                    	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9516E02D-4B0E-4E62-823C-1C1DAE1F73CD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85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Binary Relational Operations </a:t>
            </a:r>
            <a:r>
              <a:rPr lang="en-US" altLang="en-US" sz="3200"/>
              <a:t>NATURAL JOIN </a:t>
            </a:r>
            <a:r>
              <a:rPr lang="en-US" altLang="en-US"/>
              <a:t>(continued)</a:t>
            </a:r>
          </a:p>
        </p:txBody>
      </p:sp>
      <p:sp>
        <p:nvSpPr>
          <p:cNvPr id="10488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39713" y="1600200"/>
            <a:ext cx="8294687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Example: To apply a natural join on the DNUMBER attributes of DEPARTMENT and DEPT_LOCATIONS, it is sufficient to write: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900"/>
              <a:t>DEPT_LOCS </a:t>
            </a:r>
            <a:r>
              <a:rPr lang="en-US" altLang="en-US" sz="1900">
                <a:sym typeface="Symbol" panose="05050102010706020507" pitchFamily="18" charset="2"/>
              </a:rPr>
              <a:t></a:t>
            </a:r>
            <a:r>
              <a:rPr lang="en-US" altLang="en-US" sz="1900"/>
              <a:t> DEPARTMENT * DEPT_LOCATIONS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Only attribute with the same name is DNUMBER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An implicit join condition is created based on this attribute: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DEPARTMENT.DNUMBER=DEPT_LOCATIONS.DNUMBER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Another example: Q </a:t>
            </a:r>
            <a:r>
              <a:rPr lang="en-US" altLang="en-US" sz="2000">
                <a:sym typeface="Symbol" panose="05050102010706020507" pitchFamily="18" charset="2"/>
              </a:rPr>
              <a:t></a:t>
            </a:r>
            <a:r>
              <a:rPr lang="en-US" altLang="en-US" sz="2000"/>
              <a:t> R(A,B,C,D) * S(C,D,E)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The implicit join condition includes </a:t>
            </a:r>
            <a:r>
              <a:rPr lang="en-US" altLang="en-US" sz="2000" i="1"/>
              <a:t>each pair</a:t>
            </a:r>
            <a:r>
              <a:rPr lang="en-US" altLang="en-US" sz="2000"/>
              <a:t> of attributes with the same name, “AND”ed together: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R.C=S.C AND R.D.S.D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Result keeps only one attribute of each such pair: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Q(A,B,C,D,E)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8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7F32C659-19C2-413F-B989-6809212871D6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85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Example of NATURAL JOIN operation</a:t>
            </a:r>
          </a:p>
        </p:txBody>
      </p:sp>
      <p:sp>
        <p:nvSpPr>
          <p:cNvPr id="1048860" name="Rectangle 3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pic>
        <p:nvPicPr>
          <p:cNvPr id="2097163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1450975"/>
            <a:ext cx="6904038" cy="517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FB9918C2-683C-4B75-AF6A-1B2F8E0938EE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865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Complete Set of Relational Operations</a:t>
            </a:r>
          </a:p>
        </p:txBody>
      </p:sp>
      <p:sp>
        <p:nvSpPr>
          <p:cNvPr id="1048866" name="Rectangle 1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set of operations including SELECT </a:t>
            </a:r>
            <a:r>
              <a:rPr lang="en-US" altLang="en-US">
                <a:latin typeface="Symbol" panose="05050102010706020507" pitchFamily="18" charset="2"/>
              </a:rPr>
              <a:t></a:t>
            </a:r>
            <a:r>
              <a:rPr lang="en-US" altLang="en-US"/>
              <a:t>, PROJECT </a:t>
            </a:r>
            <a:r>
              <a:rPr lang="en-US" altLang="en-US">
                <a:latin typeface="Symbol" panose="05050102010706020507" pitchFamily="18" charset="2"/>
              </a:rPr>
              <a:t></a:t>
            </a:r>
            <a:r>
              <a:rPr lang="en-US" altLang="en-US"/>
              <a:t> , UNION </a:t>
            </a:r>
            <a:r>
              <a:rPr lang="en-US" altLang="en-US">
                <a:latin typeface="Symbol" panose="05050102010706020507" pitchFamily="18" charset="2"/>
              </a:rPr>
              <a:t></a:t>
            </a:r>
            <a:r>
              <a:rPr lang="en-US" altLang="en-US"/>
              <a:t>, DIFFERENCE </a:t>
            </a:r>
            <a:r>
              <a:rPr lang="en-US" altLang="en-US">
                <a:latin typeface="Symbol" panose="05050102010706020507" pitchFamily="18" charset="2"/>
              </a:rPr>
              <a:t>-</a:t>
            </a:r>
            <a:r>
              <a:rPr lang="en-US" altLang="en-US"/>
              <a:t> , RENAME </a:t>
            </a:r>
            <a:r>
              <a:rPr lang="en-US" altLang="en-US">
                <a:sym typeface="Symbol" panose="05050102010706020507" pitchFamily="18" charset="2"/>
              </a:rPr>
              <a:t></a:t>
            </a:r>
            <a:r>
              <a:rPr lang="en-US" altLang="en-US"/>
              <a:t>, and CARTESIAN PRODUCT X is called a </a:t>
            </a:r>
            <a:r>
              <a:rPr lang="en-US" altLang="en-US" i="1"/>
              <a:t>complete set</a:t>
            </a:r>
            <a:r>
              <a:rPr lang="en-US" altLang="en-US"/>
              <a:t> because any other relational algebra expression can be expressed by a combination of these five operations.</a:t>
            </a:r>
          </a:p>
          <a:p>
            <a:pPr eaLnBrk="1" hangingPunct="1"/>
            <a:r>
              <a:rPr lang="en-US" altLang="en-US"/>
              <a:t>For example: </a:t>
            </a:r>
          </a:p>
          <a:p>
            <a:pPr lvl="1" eaLnBrk="1" hangingPunct="1"/>
            <a:r>
              <a:rPr lang="en-US" altLang="en-US"/>
              <a:t>R </a:t>
            </a:r>
            <a:r>
              <a:rPr lang="en-US" altLang="en-US">
                <a:latin typeface="Symbol" panose="05050102010706020507" pitchFamily="18" charset="2"/>
              </a:rPr>
              <a:t></a:t>
            </a:r>
            <a:r>
              <a:rPr lang="en-US" altLang="en-US"/>
              <a:t> S = (R </a:t>
            </a:r>
            <a:r>
              <a:rPr lang="en-US" altLang="en-US">
                <a:latin typeface="Symbol" panose="05050102010706020507" pitchFamily="18" charset="2"/>
              </a:rPr>
              <a:t></a:t>
            </a:r>
            <a:r>
              <a:rPr lang="en-US" altLang="en-US"/>
              <a:t> S ) – ((R </a:t>
            </a:r>
            <a:r>
              <a:rPr lang="en-US" altLang="en-US">
                <a:latin typeface="Symbol" panose="05050102010706020507" pitchFamily="18" charset="2"/>
              </a:rPr>
              <a:t>-</a:t>
            </a:r>
            <a:r>
              <a:rPr lang="en-US" altLang="en-US"/>
              <a:t> S) </a:t>
            </a:r>
            <a:r>
              <a:rPr lang="en-US" altLang="en-US">
                <a:latin typeface="Symbol" panose="05050102010706020507" pitchFamily="18" charset="2"/>
              </a:rPr>
              <a:t></a:t>
            </a:r>
            <a:r>
              <a:rPr lang="en-US" altLang="en-US"/>
              <a:t> (S </a:t>
            </a:r>
            <a:r>
              <a:rPr lang="en-US" altLang="en-US">
                <a:latin typeface="Symbol" panose="05050102010706020507" pitchFamily="18" charset="2"/>
              </a:rPr>
              <a:t>-</a:t>
            </a:r>
            <a:r>
              <a:rPr lang="en-US" altLang="en-US"/>
              <a:t> R))</a:t>
            </a:r>
          </a:p>
          <a:p>
            <a:pPr lvl="1" eaLnBrk="1" hangingPunct="1"/>
            <a:r>
              <a:rPr lang="en-US" altLang="en-US"/>
              <a:t>R       </a:t>
            </a:r>
            <a:r>
              <a:rPr lang="en-US" altLang="en-US" baseline="-25000"/>
              <a:t>&lt;join condition&gt;</a:t>
            </a:r>
            <a:r>
              <a:rPr lang="en-US" altLang="en-US"/>
              <a:t>S = </a:t>
            </a:r>
            <a:r>
              <a:rPr lang="en-US" altLang="en-US">
                <a:latin typeface="Symbol" panose="05050102010706020507" pitchFamily="18" charset="2"/>
              </a:rPr>
              <a:t></a:t>
            </a:r>
            <a:r>
              <a:rPr lang="en-US" altLang="en-US"/>
              <a:t> </a:t>
            </a:r>
            <a:r>
              <a:rPr lang="en-US" altLang="en-US" baseline="-25000"/>
              <a:t>&lt;join condition&gt;</a:t>
            </a:r>
            <a:r>
              <a:rPr lang="en-US" altLang="en-US"/>
              <a:t> (R X S)</a:t>
            </a:r>
          </a:p>
        </p:txBody>
      </p:sp>
      <p:grpSp>
        <p:nvGrpSpPr>
          <p:cNvPr id="247" name="Group 9"/>
          <p:cNvGrpSpPr/>
          <p:nvPr/>
        </p:nvGrpSpPr>
        <p:grpSpPr bwMode="auto">
          <a:xfrm>
            <a:off x="1417638" y="5410200"/>
            <a:ext cx="487362" cy="174625"/>
            <a:chOff x="377" y="2904"/>
            <a:chExt cx="154" cy="110"/>
          </a:xfrm>
        </p:grpSpPr>
        <p:sp>
          <p:nvSpPr>
            <p:cNvPr id="1048867" name="Line 10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222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868" name="Line 11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222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869" name="Line 12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222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048870" name="Line 13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222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/>
            </a:p>
          </p:txBody>
        </p:sp>
      </p:grp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05FABA5B-8ACB-4EAD-B4C3-B20500B5DA16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875" name="Rectangle 9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Binary Relational Operations: DIVISION</a:t>
            </a:r>
          </a:p>
        </p:txBody>
      </p:sp>
      <p:sp>
        <p:nvSpPr>
          <p:cNvPr id="1048876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DIVISION Operation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The division operation is applied to two relations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	R(Z) </a:t>
            </a:r>
            <a:r>
              <a:rPr lang="en-US" altLang="en-US" sz="2200">
                <a:latin typeface="Symbol" panose="05050102010706020507" pitchFamily="18" charset="2"/>
              </a:rPr>
              <a:t></a:t>
            </a:r>
            <a:r>
              <a:rPr lang="en-US" altLang="en-US" sz="2200"/>
              <a:t> S(X), where X subset Z. Let Y = Z - X (and hence Z = X </a:t>
            </a:r>
            <a:r>
              <a:rPr lang="en-US" altLang="en-US" sz="2200">
                <a:latin typeface="Symbol" panose="05050102010706020507" pitchFamily="18" charset="2"/>
              </a:rPr>
              <a:t></a:t>
            </a:r>
            <a:r>
              <a:rPr lang="en-US" altLang="en-US" sz="2200"/>
              <a:t> Y); that is, let Y be the set of attributes of R that are not attributes of S.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The result of DIVISION is a relation T(Y) that includes a tuple t if tuples t</a:t>
            </a:r>
            <a:r>
              <a:rPr lang="en-US" altLang="en-US" sz="2200" baseline="-25000"/>
              <a:t>R</a:t>
            </a:r>
            <a:r>
              <a:rPr lang="en-US" altLang="en-US" sz="2200"/>
              <a:t> appear in R with t</a:t>
            </a:r>
            <a:r>
              <a:rPr lang="en-US" altLang="en-US" sz="2200" baseline="-25000"/>
              <a:t>R</a:t>
            </a:r>
            <a:r>
              <a:rPr lang="en-US" altLang="en-US" sz="2200"/>
              <a:t> [Y] = t, and with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t</a:t>
            </a:r>
            <a:r>
              <a:rPr lang="en-US" altLang="en-US" sz="2000" baseline="-25000"/>
              <a:t>R</a:t>
            </a:r>
            <a:r>
              <a:rPr lang="en-US" altLang="en-US" sz="2000"/>
              <a:t> [X] = t</a:t>
            </a:r>
            <a:r>
              <a:rPr lang="en-US" altLang="en-US" sz="2000" baseline="-25000"/>
              <a:t>s</a:t>
            </a:r>
            <a:r>
              <a:rPr lang="en-US" altLang="en-US" sz="2000"/>
              <a:t> </a:t>
            </a:r>
            <a:r>
              <a:rPr lang="en-US" altLang="en-US" sz="2000" i="1"/>
              <a:t>for every tuple</a:t>
            </a:r>
            <a:r>
              <a:rPr lang="en-US" altLang="en-US" sz="2000"/>
              <a:t> t</a:t>
            </a:r>
            <a:r>
              <a:rPr lang="en-US" altLang="en-US" sz="2000" baseline="-25000"/>
              <a:t>s</a:t>
            </a:r>
            <a:r>
              <a:rPr lang="en-US" altLang="en-US" sz="2000"/>
              <a:t> in S.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200"/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For a tuple t to appear in the result T of the DIVISION, the values in t must appear in R in combination with </a:t>
            </a:r>
            <a:r>
              <a:rPr lang="en-US" altLang="en-US" sz="2200" i="1"/>
              <a:t>every</a:t>
            </a:r>
            <a:r>
              <a:rPr lang="en-US" altLang="en-US" sz="2200"/>
              <a:t> tuple in S. 			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DA200BA8-1C7F-4D69-B12D-61F70D2F6E92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881" name="Rectangle 6"/>
          <p:cNvSpPr>
            <a:spLocks noGrp="1" noChangeArrowheads="1"/>
          </p:cNvSpPr>
          <p:nvPr>
            <p:ph type="title"/>
          </p:nvPr>
        </p:nvSpPr>
        <p:spPr>
          <a:xfrm>
            <a:off x="190500" y="363538"/>
            <a:ext cx="7796213" cy="992187"/>
          </a:xfrm>
          <a:noFill/>
        </p:spPr>
        <p:txBody>
          <a:bodyPr/>
          <a:lstStyle/>
          <a:p>
            <a:pPr eaLnBrk="1" hangingPunct="1"/>
            <a:r>
              <a:rPr lang="en-US" altLang="en-US" sz="3200"/>
              <a:t>Example of DIVISION</a:t>
            </a:r>
          </a:p>
        </p:txBody>
      </p:sp>
      <p:pic>
        <p:nvPicPr>
          <p:cNvPr id="2097164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2463" y="1616075"/>
            <a:ext cx="6684962" cy="501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5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>
                <a:latin typeface="Verdana" panose="020B0604030504040204" pitchFamily="34" charset="0"/>
              </a:rPr>
              <a:t>Table 8.1</a:t>
            </a:r>
            <a:r>
              <a:rPr lang="en-US" altLang="en-US" sz="3200">
                <a:latin typeface="Verdana" panose="020B0604030504040204" pitchFamily="34" charset="0"/>
              </a:rPr>
              <a:t>   Operations of Relational Algebra</a:t>
            </a:r>
          </a:p>
        </p:txBody>
      </p:sp>
      <p:pic>
        <p:nvPicPr>
          <p:cNvPr id="2097165" name="Picture 2" descr="tab08_01a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838" y="1881188"/>
            <a:ext cx="86868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886" name="TextBox 4"/>
          <p:cNvSpPr txBox="1">
            <a:spLocks noChangeArrowheads="1"/>
          </p:cNvSpPr>
          <p:nvPr/>
        </p:nvSpPr>
        <p:spPr bwMode="auto">
          <a:xfrm>
            <a:off x="5668963" y="6124575"/>
            <a:ext cx="3475037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i="1">
                <a:solidFill>
                  <a:schemeClr val="tx1"/>
                </a:solidFill>
                <a:latin typeface="Verdana" panose="020B0604030504040204" pitchFamily="34" charset="0"/>
              </a:rPr>
              <a:t>continued on next slide</a:t>
            </a:r>
          </a:p>
        </p:txBody>
      </p:sp>
      <p:sp>
        <p:nvSpPr>
          <p:cNvPr id="104888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82D3683A-9261-435E-A19B-EC08AEE8B367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 advTm="0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>
                <a:latin typeface="Verdana" panose="020B0604030504040204" pitchFamily="34" charset="0"/>
              </a:rPr>
              <a:t>Table 8.1 </a:t>
            </a:r>
            <a:r>
              <a:rPr lang="en-US" altLang="en-US" sz="3200">
                <a:latin typeface="Verdana" panose="020B0604030504040204" pitchFamily="34" charset="0"/>
              </a:rPr>
              <a:t>  Operations of Relational Algebra (continued)</a:t>
            </a:r>
          </a:p>
        </p:txBody>
      </p:sp>
      <p:pic>
        <p:nvPicPr>
          <p:cNvPr id="2097166" name="Picture 2" descr="tab08_01b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905000"/>
            <a:ext cx="8686800" cy="437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88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6AD652F2-AAE7-4609-B881-98E853B3E541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 advTm="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1917F054-2EDB-4467-9AD6-B6D9E759BEA2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89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Query Tree Notation</a:t>
            </a:r>
          </a:p>
        </p:txBody>
      </p:sp>
      <p:sp>
        <p:nvSpPr>
          <p:cNvPr id="10488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Query Tree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An internal data structure to represent a query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Standard technique for estimating the work involved in executing the query, the generation of intermediate results, and the optimization of execution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Nodes stand for operations like selection, projection, join, renaming, division, ….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Leaf nodes represent base relations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A tree gives a good visual feel of the complexity of the query and the operations involved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Algebraic Query Optimization consists of rewriting the query or modifying the query tree into an equivalent tree.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b="1"/>
              <a:t>(see Chapter 15)	</a:t>
            </a:r>
            <a:r>
              <a:rPr lang="en-US" altLang="en-US" sz="2200"/>
              <a:t>		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859E4A14-BB34-4345-A404-8D84A8AF612A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8897" name="Text Box 3" descr="Pink tissue paper"/>
          <p:cNvSpPr txBox="1">
            <a:spLocks noChangeArrowheads="1"/>
          </p:cNvSpPr>
          <p:nvPr/>
        </p:nvSpPr>
        <p:spPr bwMode="auto">
          <a:xfrm>
            <a:off x="990600" y="457200"/>
            <a:ext cx="7239000" cy="6413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600">
                <a:solidFill>
                  <a:srgbClr val="990000"/>
                </a:solidFill>
              </a:rPr>
              <a:t>Example of Query Tree</a:t>
            </a:r>
          </a:p>
        </p:txBody>
      </p:sp>
      <p:pic>
        <p:nvPicPr>
          <p:cNvPr id="2097167" name="Picture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509713"/>
            <a:ext cx="6824663" cy="5119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8- </a:t>
            </a:r>
            <a:fld id="{4D1D17E8-18BA-44D0-8776-E03E1EF1F70A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0491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200"/>
              <a:t>Chapter Summary</a:t>
            </a:r>
          </a:p>
        </p:txBody>
      </p:sp>
      <p:sp>
        <p:nvSpPr>
          <p:cNvPr id="10491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Relational Algebra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Unary Relational Operations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Relational Algebra Operations From Set Theory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Binary Relational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Additional Relational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Examples of Queries in </a:t>
            </a:r>
            <a:r>
              <a:rPr lang="en-US" altLang="en-US"/>
              <a:t>Relational Algebra</a:t>
            </a:r>
            <a:endParaRPr lang="en-US" altLang="en-US" dirty="0"/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4012</Words>
  <Application>Microsoft Office PowerPoint</Application>
  <PresentationFormat>Letter Paper (8.5x11 in)</PresentationFormat>
  <Paragraphs>416</Paragraphs>
  <Slides>53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Arial</vt:lpstr>
      <vt:lpstr>Symbol</vt:lpstr>
      <vt:lpstr>Tahoma</vt:lpstr>
      <vt:lpstr>Verdana</vt:lpstr>
      <vt:lpstr>Wingdings</vt:lpstr>
      <vt:lpstr>Blends</vt:lpstr>
      <vt:lpstr>PowerPoint Presentation</vt:lpstr>
      <vt:lpstr> </vt:lpstr>
      <vt:lpstr>Chapter Outline</vt:lpstr>
      <vt:lpstr>Relational Algebra Overview</vt:lpstr>
      <vt:lpstr>Relational Algebra Overview (continued)</vt:lpstr>
      <vt:lpstr>Brief History of Origins of Algebra</vt:lpstr>
      <vt:lpstr>Relational Algebra Overview</vt:lpstr>
      <vt:lpstr>Database State for COMPANY</vt:lpstr>
      <vt:lpstr>Unary Relational Operations: SELECT</vt:lpstr>
      <vt:lpstr>Unary Relational Operations: SELECT</vt:lpstr>
      <vt:lpstr>Unary Relational Operations: SELECT (continued)</vt:lpstr>
      <vt:lpstr>The following query results refer to this database state</vt:lpstr>
      <vt:lpstr>Unary Relational Operations: PROJECT</vt:lpstr>
      <vt:lpstr>Unary Relational Operations: PROJECT (cont.)</vt:lpstr>
      <vt:lpstr>Unary Relational Operations: PROJECT (contd.)</vt:lpstr>
      <vt:lpstr>Examples of applying SELECT and PROJECT operations</vt:lpstr>
      <vt:lpstr>Relational Algebra Expressions</vt:lpstr>
      <vt:lpstr>Single expression versus sequence of relational operations (Example)</vt:lpstr>
      <vt:lpstr>Unary Relational Operations: RENAME</vt:lpstr>
      <vt:lpstr>Unary Relational Operations: RENAME (continued)</vt:lpstr>
      <vt:lpstr>Unary Relational Operations: RENAME (continued)</vt:lpstr>
      <vt:lpstr>Example of applying multiple operations and RENAME</vt:lpstr>
      <vt:lpstr>Relational Algebra Operations from Set Theory: UNION </vt:lpstr>
      <vt:lpstr>Relational Algebra Operations from Set Theory: UNION </vt:lpstr>
      <vt:lpstr>Figure 8.3   Result of the UNION operation RESULT ← RESULT1 ∪ RESULT2.</vt:lpstr>
      <vt:lpstr>Relational Algebra Operations from Set Theory </vt:lpstr>
      <vt:lpstr>Relational Algebra Operations from Set Theory: INTERSECTION</vt:lpstr>
      <vt:lpstr>Relational Algebra Operations from Set Theory: SET DIFFERENCE (cont.) </vt:lpstr>
      <vt:lpstr>Example to illustrate the result of UNION, INTERSECT, and DIFFERENCE</vt:lpstr>
      <vt:lpstr>Some properties of UNION, INTERSECT, and DIFFERENCE</vt:lpstr>
      <vt:lpstr>Relational Algebra Operations from Set Theory: CARTESIAN PRODUCT</vt:lpstr>
      <vt:lpstr>Relational Algebra Operations from Set Theory: CARTESIAN PRODUCT (cont.)</vt:lpstr>
      <vt:lpstr>Relational Algebra Operations from Set Theory: CARTESIAN PRODUCT (cont.)</vt:lpstr>
      <vt:lpstr>Figure 8.5   The CARTESIAN PRODUCT (CROSS PRODUCT) operation.</vt:lpstr>
      <vt:lpstr>Figure 8.5 (continued)   The CARTESIAN PRODUCT (CROSS PRODUCT) operation.</vt:lpstr>
      <vt:lpstr>Figure 8.5 (continued)   The CARTESIAN PRODUCT (CROSS PRODUCT) operation.</vt:lpstr>
      <vt:lpstr>Binary Relational Operations: JOIN</vt:lpstr>
      <vt:lpstr>Binary Relational Operations: JOIN (cont.)</vt:lpstr>
      <vt:lpstr>Figure 8.6   Result of the JOIN operation DEPT_MGR ← DEPARTMENT|X|  Mgr_ssn=SsnEMPLOYEE.</vt:lpstr>
      <vt:lpstr>Some properties of JOIN</vt:lpstr>
      <vt:lpstr>Some properties of JOIN</vt:lpstr>
      <vt:lpstr>Binary Relational Operations: EQUIJOIN</vt:lpstr>
      <vt:lpstr>Binary Relational Operations:  NATURAL JOIN Operation</vt:lpstr>
      <vt:lpstr>Binary Relational Operations NATURAL JOIN (continued)</vt:lpstr>
      <vt:lpstr>Example of NATURAL JOIN operation</vt:lpstr>
      <vt:lpstr>Complete Set of Relational Operations</vt:lpstr>
      <vt:lpstr>Binary Relational Operations: DIVISION</vt:lpstr>
      <vt:lpstr>Example of DIVISION</vt:lpstr>
      <vt:lpstr>Table 8.1   Operations of Relational Algebra</vt:lpstr>
      <vt:lpstr>Table 8.1   Operations of Relational Algebra (continued)</vt:lpstr>
      <vt:lpstr>Query Tree Notation</vt:lpstr>
      <vt:lpstr>PowerPoint Presentation</vt:lpstr>
      <vt:lpstr>Chapter Summary</vt:lpstr>
    </vt:vector>
  </TitlesOfParts>
  <Company>©2007 Pearson Addison-Wesley.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Elmasri/Navathe</dc:creator>
  <cp:lastModifiedBy>3.D.E.L A.L</cp:lastModifiedBy>
  <cp:revision>3</cp:revision>
  <dcterms:created xsi:type="dcterms:W3CDTF">2005-02-25T13:46:41Z</dcterms:created>
  <dcterms:modified xsi:type="dcterms:W3CDTF">2025-09-01T16:50:32Z</dcterms:modified>
</cp:coreProperties>
</file>